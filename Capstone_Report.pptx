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11" r:id="rId1"/>
  </p:sldMasterIdLst>
  <p:sldIdLst>
    <p:sldId id="256" r:id="rId2"/>
    <p:sldId id="259" r:id="rId3"/>
    <p:sldId id="261" r:id="rId4"/>
    <p:sldId id="262" r:id="rId5"/>
    <p:sldId id="273" r:id="rId6"/>
    <p:sldId id="274" r:id="rId7"/>
    <p:sldId id="280" r:id="rId8"/>
    <p:sldId id="258" r:id="rId9"/>
    <p:sldId id="265" r:id="rId10"/>
    <p:sldId id="281" r:id="rId11"/>
    <p:sldId id="276" r:id="rId12"/>
    <p:sldId id="266" r:id="rId13"/>
    <p:sldId id="267" r:id="rId14"/>
    <p:sldId id="278" r:id="rId15"/>
    <p:sldId id="257" r:id="rId16"/>
    <p:sldId id="279" r:id="rId17"/>
    <p:sldId id="270" r:id="rId18"/>
    <p:sldId id="271" r:id="rId19"/>
    <p:sldId id="272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63E004-871F-4037-9DE0-0403D056710F}" v="205" dt="2025-11-30T13:18:45.49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830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93A4D2-D0B7-4EC4-8C15-2FE508ECE2F6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91426BCE-6AD8-4F73-A9AF-5DCF2B64E68D}">
      <dgm:prSet/>
      <dgm:spPr/>
      <dgm:t>
        <a:bodyPr/>
        <a:lstStyle/>
        <a:p>
          <a:r>
            <a:rPr lang="en-US" b="0" i="0" dirty="0"/>
            <a:t>R² Score : -0.04</a:t>
          </a:r>
          <a:endParaRPr lang="en-US" dirty="0"/>
        </a:p>
      </dgm:t>
    </dgm:pt>
    <dgm:pt modelId="{A5D80EAA-5622-4370-8494-7F8E47025629}" type="parTrans" cxnId="{B3298777-803A-495C-B6FF-0D9873E1A240}">
      <dgm:prSet/>
      <dgm:spPr/>
      <dgm:t>
        <a:bodyPr/>
        <a:lstStyle/>
        <a:p>
          <a:endParaRPr lang="en-US"/>
        </a:p>
      </dgm:t>
    </dgm:pt>
    <dgm:pt modelId="{D822B957-BB1D-42B9-A62A-AE04CDCFB4BE}" type="sibTrans" cxnId="{B3298777-803A-495C-B6FF-0D9873E1A240}">
      <dgm:prSet/>
      <dgm:spPr/>
      <dgm:t>
        <a:bodyPr/>
        <a:lstStyle/>
        <a:p>
          <a:endParaRPr lang="en-US"/>
        </a:p>
      </dgm:t>
    </dgm:pt>
    <dgm:pt modelId="{739C5429-BE3F-43C9-9BB9-BEE024F19783}">
      <dgm:prSet/>
      <dgm:spPr/>
      <dgm:t>
        <a:bodyPr/>
        <a:lstStyle/>
        <a:p>
          <a:r>
            <a:rPr lang="en-US" b="0" i="0"/>
            <a:t>MAE  : 14589.28</a:t>
          </a:r>
          <a:endParaRPr lang="en-US"/>
        </a:p>
      </dgm:t>
    </dgm:pt>
    <dgm:pt modelId="{21E95308-B06A-425B-BDEE-3E06B93C814E}" type="parTrans" cxnId="{5B847C00-CBDF-4810-8AB4-79D15D42D623}">
      <dgm:prSet/>
      <dgm:spPr/>
      <dgm:t>
        <a:bodyPr/>
        <a:lstStyle/>
        <a:p>
          <a:endParaRPr lang="en-US"/>
        </a:p>
      </dgm:t>
    </dgm:pt>
    <dgm:pt modelId="{BC4B3916-36A7-4593-A606-C37543B4811E}" type="sibTrans" cxnId="{5B847C00-CBDF-4810-8AB4-79D15D42D623}">
      <dgm:prSet/>
      <dgm:spPr/>
      <dgm:t>
        <a:bodyPr/>
        <a:lstStyle/>
        <a:p>
          <a:endParaRPr lang="en-US"/>
        </a:p>
      </dgm:t>
    </dgm:pt>
    <dgm:pt modelId="{E8A26C4B-BD20-4937-BD04-795A7609659A}">
      <dgm:prSet/>
      <dgm:spPr/>
      <dgm:t>
        <a:bodyPr/>
        <a:lstStyle/>
        <a:p>
          <a:r>
            <a:rPr lang="en-US" b="0" i="0"/>
            <a:t>RMSE : 19417.38</a:t>
          </a:r>
          <a:endParaRPr lang="en-US"/>
        </a:p>
      </dgm:t>
    </dgm:pt>
    <dgm:pt modelId="{9A105671-2694-4B82-BA56-7E02D1EFE94B}" type="parTrans" cxnId="{8E3D16BB-8ABB-49A0-BD30-6ED2597A2783}">
      <dgm:prSet/>
      <dgm:spPr/>
      <dgm:t>
        <a:bodyPr/>
        <a:lstStyle/>
        <a:p>
          <a:endParaRPr lang="en-US"/>
        </a:p>
      </dgm:t>
    </dgm:pt>
    <dgm:pt modelId="{77170D4A-FA90-49F6-8263-79FD40F4D9F4}" type="sibTrans" cxnId="{8E3D16BB-8ABB-49A0-BD30-6ED2597A2783}">
      <dgm:prSet/>
      <dgm:spPr/>
      <dgm:t>
        <a:bodyPr/>
        <a:lstStyle/>
        <a:p>
          <a:endParaRPr lang="en-US"/>
        </a:p>
      </dgm:t>
    </dgm:pt>
    <dgm:pt modelId="{AF5D2397-4B06-48F8-9622-1FAA6D38D499}" type="pres">
      <dgm:prSet presAssocID="{8093A4D2-D0B7-4EC4-8C15-2FE508ECE2F6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733A2071-2622-438A-B859-61429E6600BD}" type="pres">
      <dgm:prSet presAssocID="{91426BCE-6AD8-4F73-A9AF-5DCF2B64E68D}" presName="hierRoot1" presStyleCnt="0"/>
      <dgm:spPr/>
    </dgm:pt>
    <dgm:pt modelId="{218D6A6C-7C1D-4063-ADED-E9AF346E79DA}" type="pres">
      <dgm:prSet presAssocID="{91426BCE-6AD8-4F73-A9AF-5DCF2B64E68D}" presName="composite" presStyleCnt="0"/>
      <dgm:spPr/>
    </dgm:pt>
    <dgm:pt modelId="{340808B0-20F3-466F-AB2F-850592AC1D81}" type="pres">
      <dgm:prSet presAssocID="{91426BCE-6AD8-4F73-A9AF-5DCF2B64E68D}" presName="background" presStyleLbl="node0" presStyleIdx="0" presStyleCnt="3"/>
      <dgm:spPr/>
    </dgm:pt>
    <dgm:pt modelId="{FBF02D13-10FF-4D24-BC35-43E1C4550F7F}" type="pres">
      <dgm:prSet presAssocID="{91426BCE-6AD8-4F73-A9AF-5DCF2B64E68D}" presName="text" presStyleLbl="fgAcc0" presStyleIdx="0" presStyleCnt="3">
        <dgm:presLayoutVars>
          <dgm:chPref val="3"/>
        </dgm:presLayoutVars>
      </dgm:prSet>
      <dgm:spPr/>
    </dgm:pt>
    <dgm:pt modelId="{626D05FF-2354-4DC9-915D-0E054916F502}" type="pres">
      <dgm:prSet presAssocID="{91426BCE-6AD8-4F73-A9AF-5DCF2B64E68D}" presName="hierChild2" presStyleCnt="0"/>
      <dgm:spPr/>
    </dgm:pt>
    <dgm:pt modelId="{BECC431E-CF3E-462D-BC7D-6DCA7158E285}" type="pres">
      <dgm:prSet presAssocID="{739C5429-BE3F-43C9-9BB9-BEE024F19783}" presName="hierRoot1" presStyleCnt="0"/>
      <dgm:spPr/>
    </dgm:pt>
    <dgm:pt modelId="{84313678-E526-4E2F-8727-7BE5AF3EB3E4}" type="pres">
      <dgm:prSet presAssocID="{739C5429-BE3F-43C9-9BB9-BEE024F19783}" presName="composite" presStyleCnt="0"/>
      <dgm:spPr/>
    </dgm:pt>
    <dgm:pt modelId="{173565E4-3C01-432A-82C6-1542804469BF}" type="pres">
      <dgm:prSet presAssocID="{739C5429-BE3F-43C9-9BB9-BEE024F19783}" presName="background" presStyleLbl="node0" presStyleIdx="1" presStyleCnt="3"/>
      <dgm:spPr/>
    </dgm:pt>
    <dgm:pt modelId="{85D83B2B-BADF-4EEB-8D4A-E8DE0908786D}" type="pres">
      <dgm:prSet presAssocID="{739C5429-BE3F-43C9-9BB9-BEE024F19783}" presName="text" presStyleLbl="fgAcc0" presStyleIdx="1" presStyleCnt="3">
        <dgm:presLayoutVars>
          <dgm:chPref val="3"/>
        </dgm:presLayoutVars>
      </dgm:prSet>
      <dgm:spPr/>
    </dgm:pt>
    <dgm:pt modelId="{070CDE8E-32E9-4695-B941-FA9FC83FFF8D}" type="pres">
      <dgm:prSet presAssocID="{739C5429-BE3F-43C9-9BB9-BEE024F19783}" presName="hierChild2" presStyleCnt="0"/>
      <dgm:spPr/>
    </dgm:pt>
    <dgm:pt modelId="{4E8BEB43-15C8-4F63-B637-06C064598503}" type="pres">
      <dgm:prSet presAssocID="{E8A26C4B-BD20-4937-BD04-795A7609659A}" presName="hierRoot1" presStyleCnt="0"/>
      <dgm:spPr/>
    </dgm:pt>
    <dgm:pt modelId="{0C5BE5AE-2DED-4879-B8DB-72092D747929}" type="pres">
      <dgm:prSet presAssocID="{E8A26C4B-BD20-4937-BD04-795A7609659A}" presName="composite" presStyleCnt="0"/>
      <dgm:spPr/>
    </dgm:pt>
    <dgm:pt modelId="{BF2DB0A5-CD43-4004-BF86-855E753238FF}" type="pres">
      <dgm:prSet presAssocID="{E8A26C4B-BD20-4937-BD04-795A7609659A}" presName="background" presStyleLbl="node0" presStyleIdx="2" presStyleCnt="3"/>
      <dgm:spPr/>
    </dgm:pt>
    <dgm:pt modelId="{08FD7B77-F0BC-4AA2-BAA1-0339375568D1}" type="pres">
      <dgm:prSet presAssocID="{E8A26C4B-BD20-4937-BD04-795A7609659A}" presName="text" presStyleLbl="fgAcc0" presStyleIdx="2" presStyleCnt="3">
        <dgm:presLayoutVars>
          <dgm:chPref val="3"/>
        </dgm:presLayoutVars>
      </dgm:prSet>
      <dgm:spPr/>
    </dgm:pt>
    <dgm:pt modelId="{3D2F6EC6-7147-4912-A079-E7E4CDAF93A2}" type="pres">
      <dgm:prSet presAssocID="{E8A26C4B-BD20-4937-BD04-795A7609659A}" presName="hierChild2" presStyleCnt="0"/>
      <dgm:spPr/>
    </dgm:pt>
  </dgm:ptLst>
  <dgm:cxnLst>
    <dgm:cxn modelId="{5B847C00-CBDF-4810-8AB4-79D15D42D623}" srcId="{8093A4D2-D0B7-4EC4-8C15-2FE508ECE2F6}" destId="{739C5429-BE3F-43C9-9BB9-BEE024F19783}" srcOrd="1" destOrd="0" parTransId="{21E95308-B06A-425B-BDEE-3E06B93C814E}" sibTransId="{BC4B3916-36A7-4593-A606-C37543B4811E}"/>
    <dgm:cxn modelId="{68710A41-C807-4569-A075-5CA036312804}" type="presOf" srcId="{739C5429-BE3F-43C9-9BB9-BEE024F19783}" destId="{85D83B2B-BADF-4EEB-8D4A-E8DE0908786D}" srcOrd="0" destOrd="0" presId="urn:microsoft.com/office/officeart/2005/8/layout/hierarchy1"/>
    <dgm:cxn modelId="{B3298777-803A-495C-B6FF-0D9873E1A240}" srcId="{8093A4D2-D0B7-4EC4-8C15-2FE508ECE2F6}" destId="{91426BCE-6AD8-4F73-A9AF-5DCF2B64E68D}" srcOrd="0" destOrd="0" parTransId="{A5D80EAA-5622-4370-8494-7F8E47025629}" sibTransId="{D822B957-BB1D-42B9-A62A-AE04CDCFB4BE}"/>
    <dgm:cxn modelId="{765F2259-9E26-492B-A016-8312AFB8B47E}" type="presOf" srcId="{8093A4D2-D0B7-4EC4-8C15-2FE508ECE2F6}" destId="{AF5D2397-4B06-48F8-9622-1FAA6D38D499}" srcOrd="0" destOrd="0" presId="urn:microsoft.com/office/officeart/2005/8/layout/hierarchy1"/>
    <dgm:cxn modelId="{AAD46887-F4EF-4A13-B461-1FCF0E11F746}" type="presOf" srcId="{91426BCE-6AD8-4F73-A9AF-5DCF2B64E68D}" destId="{FBF02D13-10FF-4D24-BC35-43E1C4550F7F}" srcOrd="0" destOrd="0" presId="urn:microsoft.com/office/officeart/2005/8/layout/hierarchy1"/>
    <dgm:cxn modelId="{60ACC3B0-E84A-4D60-8010-1B725E259BEA}" type="presOf" srcId="{E8A26C4B-BD20-4937-BD04-795A7609659A}" destId="{08FD7B77-F0BC-4AA2-BAA1-0339375568D1}" srcOrd="0" destOrd="0" presId="urn:microsoft.com/office/officeart/2005/8/layout/hierarchy1"/>
    <dgm:cxn modelId="{8E3D16BB-8ABB-49A0-BD30-6ED2597A2783}" srcId="{8093A4D2-D0B7-4EC4-8C15-2FE508ECE2F6}" destId="{E8A26C4B-BD20-4937-BD04-795A7609659A}" srcOrd="2" destOrd="0" parTransId="{9A105671-2694-4B82-BA56-7E02D1EFE94B}" sibTransId="{77170D4A-FA90-49F6-8263-79FD40F4D9F4}"/>
    <dgm:cxn modelId="{142EB01D-4F63-43A8-A4EB-8729D5FEDFAF}" type="presParOf" srcId="{AF5D2397-4B06-48F8-9622-1FAA6D38D499}" destId="{733A2071-2622-438A-B859-61429E6600BD}" srcOrd="0" destOrd="0" presId="urn:microsoft.com/office/officeart/2005/8/layout/hierarchy1"/>
    <dgm:cxn modelId="{FA18BF8D-F3C9-4F55-A838-921FA9377E4A}" type="presParOf" srcId="{733A2071-2622-438A-B859-61429E6600BD}" destId="{218D6A6C-7C1D-4063-ADED-E9AF346E79DA}" srcOrd="0" destOrd="0" presId="urn:microsoft.com/office/officeart/2005/8/layout/hierarchy1"/>
    <dgm:cxn modelId="{81331B0D-CA53-492E-80D5-FBAA77B5CA0F}" type="presParOf" srcId="{218D6A6C-7C1D-4063-ADED-E9AF346E79DA}" destId="{340808B0-20F3-466F-AB2F-850592AC1D81}" srcOrd="0" destOrd="0" presId="urn:microsoft.com/office/officeart/2005/8/layout/hierarchy1"/>
    <dgm:cxn modelId="{C45EF5E2-4CCE-435C-9A95-7B193AE029B8}" type="presParOf" srcId="{218D6A6C-7C1D-4063-ADED-E9AF346E79DA}" destId="{FBF02D13-10FF-4D24-BC35-43E1C4550F7F}" srcOrd="1" destOrd="0" presId="urn:microsoft.com/office/officeart/2005/8/layout/hierarchy1"/>
    <dgm:cxn modelId="{E892489D-DF25-4619-BB33-2933F45ED70A}" type="presParOf" srcId="{733A2071-2622-438A-B859-61429E6600BD}" destId="{626D05FF-2354-4DC9-915D-0E054916F502}" srcOrd="1" destOrd="0" presId="urn:microsoft.com/office/officeart/2005/8/layout/hierarchy1"/>
    <dgm:cxn modelId="{12CBE2B4-2153-4649-AE57-CA2AF375AD36}" type="presParOf" srcId="{AF5D2397-4B06-48F8-9622-1FAA6D38D499}" destId="{BECC431E-CF3E-462D-BC7D-6DCA7158E285}" srcOrd="1" destOrd="0" presId="urn:microsoft.com/office/officeart/2005/8/layout/hierarchy1"/>
    <dgm:cxn modelId="{127A2D1B-3865-444C-A048-9FB5B04885E1}" type="presParOf" srcId="{BECC431E-CF3E-462D-BC7D-6DCA7158E285}" destId="{84313678-E526-4E2F-8727-7BE5AF3EB3E4}" srcOrd="0" destOrd="0" presId="urn:microsoft.com/office/officeart/2005/8/layout/hierarchy1"/>
    <dgm:cxn modelId="{DF82670B-C952-4F92-B12E-3169601299A3}" type="presParOf" srcId="{84313678-E526-4E2F-8727-7BE5AF3EB3E4}" destId="{173565E4-3C01-432A-82C6-1542804469BF}" srcOrd="0" destOrd="0" presId="urn:microsoft.com/office/officeart/2005/8/layout/hierarchy1"/>
    <dgm:cxn modelId="{C7093CFC-6767-43C9-BD67-1D5E1E45235D}" type="presParOf" srcId="{84313678-E526-4E2F-8727-7BE5AF3EB3E4}" destId="{85D83B2B-BADF-4EEB-8D4A-E8DE0908786D}" srcOrd="1" destOrd="0" presId="urn:microsoft.com/office/officeart/2005/8/layout/hierarchy1"/>
    <dgm:cxn modelId="{8BD646F9-F2AE-425D-8EDA-BB7267EA9381}" type="presParOf" srcId="{BECC431E-CF3E-462D-BC7D-6DCA7158E285}" destId="{070CDE8E-32E9-4695-B941-FA9FC83FFF8D}" srcOrd="1" destOrd="0" presId="urn:microsoft.com/office/officeart/2005/8/layout/hierarchy1"/>
    <dgm:cxn modelId="{D32F9180-2B39-4C73-A658-B62FA591520C}" type="presParOf" srcId="{AF5D2397-4B06-48F8-9622-1FAA6D38D499}" destId="{4E8BEB43-15C8-4F63-B637-06C064598503}" srcOrd="2" destOrd="0" presId="urn:microsoft.com/office/officeart/2005/8/layout/hierarchy1"/>
    <dgm:cxn modelId="{85E224E2-003B-49D3-9338-355C08E13401}" type="presParOf" srcId="{4E8BEB43-15C8-4F63-B637-06C064598503}" destId="{0C5BE5AE-2DED-4879-B8DB-72092D747929}" srcOrd="0" destOrd="0" presId="urn:microsoft.com/office/officeart/2005/8/layout/hierarchy1"/>
    <dgm:cxn modelId="{312FA3CF-781C-4D0C-9D4B-837AD04B3564}" type="presParOf" srcId="{0C5BE5AE-2DED-4879-B8DB-72092D747929}" destId="{BF2DB0A5-CD43-4004-BF86-855E753238FF}" srcOrd="0" destOrd="0" presId="urn:microsoft.com/office/officeart/2005/8/layout/hierarchy1"/>
    <dgm:cxn modelId="{C72224C7-6DEA-4808-B524-13C132D36B8E}" type="presParOf" srcId="{0C5BE5AE-2DED-4879-B8DB-72092D747929}" destId="{08FD7B77-F0BC-4AA2-BAA1-0339375568D1}" srcOrd="1" destOrd="0" presId="urn:microsoft.com/office/officeart/2005/8/layout/hierarchy1"/>
    <dgm:cxn modelId="{54840231-1DC8-4994-905E-2C6F2462A809}" type="presParOf" srcId="{4E8BEB43-15C8-4F63-B637-06C064598503}" destId="{3D2F6EC6-7147-4912-A079-E7E4CDAF93A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BB93360-50F1-4D80-8D89-ED8A2DBBC26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3FE3DABC-3AE6-45F5-AC97-B40C7F7C3ADC}">
      <dgm:prSet/>
      <dgm:spPr/>
      <dgm:t>
        <a:bodyPr/>
        <a:lstStyle/>
        <a:p>
          <a:r>
            <a:rPr lang="en-US"/>
            <a:t>Sales show strong seasonality</a:t>
          </a:r>
        </a:p>
      </dgm:t>
    </dgm:pt>
    <dgm:pt modelId="{E205769C-02C5-424A-BAE1-8B681CF9BD7B}" type="parTrans" cxnId="{DB29C3DD-9F66-45F9-BC51-5677A2280516}">
      <dgm:prSet/>
      <dgm:spPr/>
      <dgm:t>
        <a:bodyPr/>
        <a:lstStyle/>
        <a:p>
          <a:endParaRPr lang="en-US"/>
        </a:p>
      </dgm:t>
    </dgm:pt>
    <dgm:pt modelId="{DE428B2F-63F9-4D05-A0BB-9E7AF64D737B}" type="sibTrans" cxnId="{DB29C3DD-9F66-45F9-BC51-5677A2280516}">
      <dgm:prSet/>
      <dgm:spPr/>
      <dgm:t>
        <a:bodyPr/>
        <a:lstStyle/>
        <a:p>
          <a:endParaRPr lang="en-US"/>
        </a:p>
      </dgm:t>
    </dgm:pt>
    <dgm:pt modelId="{67CFF4FC-9AF4-4DAE-A3B0-79D700DD6831}">
      <dgm:prSet/>
      <dgm:spPr/>
      <dgm:t>
        <a:bodyPr/>
        <a:lstStyle/>
        <a:p>
          <a:r>
            <a:rPr lang="en-US"/>
            <a:t>Holidays and discounts drive revenue uplift</a:t>
          </a:r>
        </a:p>
      </dgm:t>
    </dgm:pt>
    <dgm:pt modelId="{CBB56912-BC05-41BC-A4F6-7D3C253E34FA}" type="parTrans" cxnId="{0FA0A9AA-64D5-4C02-A7CA-DCD2368E63B5}">
      <dgm:prSet/>
      <dgm:spPr/>
      <dgm:t>
        <a:bodyPr/>
        <a:lstStyle/>
        <a:p>
          <a:endParaRPr lang="en-US"/>
        </a:p>
      </dgm:t>
    </dgm:pt>
    <dgm:pt modelId="{5CFCA9FF-DE76-4440-9DC9-BB8E8819E222}" type="sibTrans" cxnId="{0FA0A9AA-64D5-4C02-A7CA-DCD2368E63B5}">
      <dgm:prSet/>
      <dgm:spPr/>
      <dgm:t>
        <a:bodyPr/>
        <a:lstStyle/>
        <a:p>
          <a:endParaRPr lang="en-US"/>
        </a:p>
      </dgm:t>
    </dgm:pt>
    <dgm:pt modelId="{0C1BC96B-051E-40EF-8AA4-1C2AC00E6265}">
      <dgm:prSet/>
      <dgm:spPr/>
      <dgm:t>
        <a:bodyPr/>
        <a:lstStyle/>
        <a:p>
          <a:r>
            <a:rPr lang="en-US"/>
            <a:t>Few stores generate majority of sales volume</a:t>
          </a:r>
        </a:p>
      </dgm:t>
    </dgm:pt>
    <dgm:pt modelId="{C063989C-0D49-43CE-A15A-FC3EF1FC3495}" type="parTrans" cxnId="{DA3AADA6-20AF-49A3-900D-37375A015B19}">
      <dgm:prSet/>
      <dgm:spPr/>
      <dgm:t>
        <a:bodyPr/>
        <a:lstStyle/>
        <a:p>
          <a:endParaRPr lang="en-US"/>
        </a:p>
      </dgm:t>
    </dgm:pt>
    <dgm:pt modelId="{1AC30E64-6FA1-43F9-8409-53D940A5D8C7}" type="sibTrans" cxnId="{DA3AADA6-20AF-49A3-900D-37375A015B19}">
      <dgm:prSet/>
      <dgm:spPr/>
      <dgm:t>
        <a:bodyPr/>
        <a:lstStyle/>
        <a:p>
          <a:endParaRPr lang="en-US"/>
        </a:p>
      </dgm:t>
    </dgm:pt>
    <dgm:pt modelId="{73A89005-01F5-45CA-A884-6060173C079C}">
      <dgm:prSet/>
      <dgm:spPr/>
      <dgm:t>
        <a:bodyPr/>
        <a:lstStyle/>
        <a:p>
          <a:r>
            <a:rPr lang="en-US"/>
            <a:t>Forecasting improves inventory planning &amp; budgeting</a:t>
          </a:r>
        </a:p>
      </dgm:t>
    </dgm:pt>
    <dgm:pt modelId="{8B709DA4-42DC-40F6-B3BD-E4DB7BF23CAF}" type="parTrans" cxnId="{2490C184-DC95-4CB0-9EF8-A72A68874073}">
      <dgm:prSet/>
      <dgm:spPr/>
      <dgm:t>
        <a:bodyPr/>
        <a:lstStyle/>
        <a:p>
          <a:endParaRPr lang="en-US"/>
        </a:p>
      </dgm:t>
    </dgm:pt>
    <dgm:pt modelId="{D7080230-1956-4FA7-9D62-186707F6EE77}" type="sibTrans" cxnId="{2490C184-DC95-4CB0-9EF8-A72A68874073}">
      <dgm:prSet/>
      <dgm:spPr/>
      <dgm:t>
        <a:bodyPr/>
        <a:lstStyle/>
        <a:p>
          <a:endParaRPr lang="en-US"/>
        </a:p>
      </dgm:t>
    </dgm:pt>
    <dgm:pt modelId="{F2D2C9CE-CD97-4C44-B91C-76C37DDCD759}">
      <dgm:prSet/>
      <dgm:spPr/>
      <dgm:t>
        <a:bodyPr/>
        <a:lstStyle/>
        <a:p>
          <a:r>
            <a:rPr lang="en-US"/>
            <a:t>Data segmentation enables targeted business strategy</a:t>
          </a:r>
        </a:p>
      </dgm:t>
    </dgm:pt>
    <dgm:pt modelId="{653FC70E-DA7C-41C9-9A78-763B0BE0CF3F}" type="parTrans" cxnId="{A0550C24-9811-4C39-94BD-3A3980193257}">
      <dgm:prSet/>
      <dgm:spPr/>
      <dgm:t>
        <a:bodyPr/>
        <a:lstStyle/>
        <a:p>
          <a:endParaRPr lang="en-US"/>
        </a:p>
      </dgm:t>
    </dgm:pt>
    <dgm:pt modelId="{FE5C6372-1D9D-44CD-9A60-30F1CD6FC861}" type="sibTrans" cxnId="{A0550C24-9811-4C39-94BD-3A3980193257}">
      <dgm:prSet/>
      <dgm:spPr/>
      <dgm:t>
        <a:bodyPr/>
        <a:lstStyle/>
        <a:p>
          <a:endParaRPr lang="en-US"/>
        </a:p>
      </dgm:t>
    </dgm:pt>
    <dgm:pt modelId="{8B71C6ED-5558-4A66-B6C6-15B3B2F9C41E}" type="pres">
      <dgm:prSet presAssocID="{7BB93360-50F1-4D80-8D89-ED8A2DBBC26F}" presName="root" presStyleCnt="0">
        <dgm:presLayoutVars>
          <dgm:dir/>
          <dgm:resizeHandles val="exact"/>
        </dgm:presLayoutVars>
      </dgm:prSet>
      <dgm:spPr/>
    </dgm:pt>
    <dgm:pt modelId="{691A6C5D-8A51-49C4-BC2E-ACA1C2A61E1A}" type="pres">
      <dgm:prSet presAssocID="{3FE3DABC-3AE6-45F5-AC97-B40C7F7C3ADC}" presName="compNode" presStyleCnt="0"/>
      <dgm:spPr/>
    </dgm:pt>
    <dgm:pt modelId="{4C13A6C5-B646-4C28-AE57-11419DBDB413}" type="pres">
      <dgm:prSet presAssocID="{3FE3DABC-3AE6-45F5-AC97-B40C7F7C3ADC}" presName="bgRect" presStyleLbl="bgShp" presStyleIdx="0" presStyleCnt="5"/>
      <dgm:spPr/>
    </dgm:pt>
    <dgm:pt modelId="{44D8B63B-A730-41B4-95E7-0FE5D7BCFB54}" type="pres">
      <dgm:prSet presAssocID="{3FE3DABC-3AE6-45F5-AC97-B40C7F7C3ADC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D73061F5-11C6-4B9F-9544-FFCE955E06A8}" type="pres">
      <dgm:prSet presAssocID="{3FE3DABC-3AE6-45F5-AC97-B40C7F7C3ADC}" presName="spaceRect" presStyleCnt="0"/>
      <dgm:spPr/>
    </dgm:pt>
    <dgm:pt modelId="{9A9BDF0F-50A2-4B7C-8ACD-C3DAC7AB6F04}" type="pres">
      <dgm:prSet presAssocID="{3FE3DABC-3AE6-45F5-AC97-B40C7F7C3ADC}" presName="parTx" presStyleLbl="revTx" presStyleIdx="0" presStyleCnt="5">
        <dgm:presLayoutVars>
          <dgm:chMax val="0"/>
          <dgm:chPref val="0"/>
        </dgm:presLayoutVars>
      </dgm:prSet>
      <dgm:spPr/>
    </dgm:pt>
    <dgm:pt modelId="{A3DA73E3-D697-41B5-9490-5F755A73393D}" type="pres">
      <dgm:prSet presAssocID="{DE428B2F-63F9-4D05-A0BB-9E7AF64D737B}" presName="sibTrans" presStyleCnt="0"/>
      <dgm:spPr/>
    </dgm:pt>
    <dgm:pt modelId="{AAA7249C-C602-4755-9EFF-91ADF6E3F57C}" type="pres">
      <dgm:prSet presAssocID="{67CFF4FC-9AF4-4DAE-A3B0-79D700DD6831}" presName="compNode" presStyleCnt="0"/>
      <dgm:spPr/>
    </dgm:pt>
    <dgm:pt modelId="{A6A02AA4-FE05-48F4-B695-657538DC5E46}" type="pres">
      <dgm:prSet presAssocID="{67CFF4FC-9AF4-4DAE-A3B0-79D700DD6831}" presName="bgRect" presStyleLbl="bgShp" presStyleIdx="1" presStyleCnt="5"/>
      <dgm:spPr/>
    </dgm:pt>
    <dgm:pt modelId="{2368C257-22FD-4E02-94F4-4D9621CF2597}" type="pres">
      <dgm:prSet presAssocID="{67CFF4FC-9AF4-4DAE-A3B0-79D700DD6831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29C99656-58FF-4A56-B25F-7159269878E2}" type="pres">
      <dgm:prSet presAssocID="{67CFF4FC-9AF4-4DAE-A3B0-79D700DD6831}" presName="spaceRect" presStyleCnt="0"/>
      <dgm:spPr/>
    </dgm:pt>
    <dgm:pt modelId="{CF9B063E-6715-4D15-A250-DAA8B49FA874}" type="pres">
      <dgm:prSet presAssocID="{67CFF4FC-9AF4-4DAE-A3B0-79D700DD6831}" presName="parTx" presStyleLbl="revTx" presStyleIdx="1" presStyleCnt="5">
        <dgm:presLayoutVars>
          <dgm:chMax val="0"/>
          <dgm:chPref val="0"/>
        </dgm:presLayoutVars>
      </dgm:prSet>
      <dgm:spPr/>
    </dgm:pt>
    <dgm:pt modelId="{3E57C91F-610D-4791-A56B-5C53592758F6}" type="pres">
      <dgm:prSet presAssocID="{5CFCA9FF-DE76-4440-9DC9-BB8E8819E222}" presName="sibTrans" presStyleCnt="0"/>
      <dgm:spPr/>
    </dgm:pt>
    <dgm:pt modelId="{65927882-BE1F-4897-B9DF-3AE09BA1D401}" type="pres">
      <dgm:prSet presAssocID="{0C1BC96B-051E-40EF-8AA4-1C2AC00E6265}" presName="compNode" presStyleCnt="0"/>
      <dgm:spPr/>
    </dgm:pt>
    <dgm:pt modelId="{147D80A9-F57F-4D6B-A364-484373475874}" type="pres">
      <dgm:prSet presAssocID="{0C1BC96B-051E-40EF-8AA4-1C2AC00E6265}" presName="bgRect" presStyleLbl="bgShp" presStyleIdx="2" presStyleCnt="5"/>
      <dgm:spPr/>
    </dgm:pt>
    <dgm:pt modelId="{B7061FC2-D082-42F1-AF9C-A88B38BB4698}" type="pres">
      <dgm:prSet presAssocID="{0C1BC96B-051E-40EF-8AA4-1C2AC00E626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re"/>
        </a:ext>
      </dgm:extLst>
    </dgm:pt>
    <dgm:pt modelId="{3B120678-0414-416E-BCE8-615017902101}" type="pres">
      <dgm:prSet presAssocID="{0C1BC96B-051E-40EF-8AA4-1C2AC00E6265}" presName="spaceRect" presStyleCnt="0"/>
      <dgm:spPr/>
    </dgm:pt>
    <dgm:pt modelId="{DA9C6D60-F83B-4448-AE17-7A72F62F9CB7}" type="pres">
      <dgm:prSet presAssocID="{0C1BC96B-051E-40EF-8AA4-1C2AC00E6265}" presName="parTx" presStyleLbl="revTx" presStyleIdx="2" presStyleCnt="5">
        <dgm:presLayoutVars>
          <dgm:chMax val="0"/>
          <dgm:chPref val="0"/>
        </dgm:presLayoutVars>
      </dgm:prSet>
      <dgm:spPr/>
    </dgm:pt>
    <dgm:pt modelId="{0C128838-0A1D-4409-9178-0947C3213857}" type="pres">
      <dgm:prSet presAssocID="{1AC30E64-6FA1-43F9-8409-53D940A5D8C7}" presName="sibTrans" presStyleCnt="0"/>
      <dgm:spPr/>
    </dgm:pt>
    <dgm:pt modelId="{73EF4A6B-80D5-4668-9684-C45524285E26}" type="pres">
      <dgm:prSet presAssocID="{73A89005-01F5-45CA-A884-6060173C079C}" presName="compNode" presStyleCnt="0"/>
      <dgm:spPr/>
    </dgm:pt>
    <dgm:pt modelId="{67BAE7BB-F9FF-48C7-B78E-A197E195A02A}" type="pres">
      <dgm:prSet presAssocID="{73A89005-01F5-45CA-A884-6060173C079C}" presName="bgRect" presStyleLbl="bgShp" presStyleIdx="3" presStyleCnt="5"/>
      <dgm:spPr/>
    </dgm:pt>
    <dgm:pt modelId="{7867E00C-8F59-4245-A7CE-6C886B28BC7C}" type="pres">
      <dgm:prSet presAssocID="{73A89005-01F5-45CA-A884-6060173C079C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culator"/>
        </a:ext>
      </dgm:extLst>
    </dgm:pt>
    <dgm:pt modelId="{520582CB-92C0-46E6-84C3-71ACB7314939}" type="pres">
      <dgm:prSet presAssocID="{73A89005-01F5-45CA-A884-6060173C079C}" presName="spaceRect" presStyleCnt="0"/>
      <dgm:spPr/>
    </dgm:pt>
    <dgm:pt modelId="{79928E5F-E46D-40F2-B075-CBCF80E0623A}" type="pres">
      <dgm:prSet presAssocID="{73A89005-01F5-45CA-A884-6060173C079C}" presName="parTx" presStyleLbl="revTx" presStyleIdx="3" presStyleCnt="5">
        <dgm:presLayoutVars>
          <dgm:chMax val="0"/>
          <dgm:chPref val="0"/>
        </dgm:presLayoutVars>
      </dgm:prSet>
      <dgm:spPr/>
    </dgm:pt>
    <dgm:pt modelId="{26F8D320-10A9-4F70-A295-A6BE9E18D5A5}" type="pres">
      <dgm:prSet presAssocID="{D7080230-1956-4FA7-9D62-186707F6EE77}" presName="sibTrans" presStyleCnt="0"/>
      <dgm:spPr/>
    </dgm:pt>
    <dgm:pt modelId="{23BEFC05-41AF-4B6B-8DAB-32B0DEA1247E}" type="pres">
      <dgm:prSet presAssocID="{F2D2C9CE-CD97-4C44-B91C-76C37DDCD759}" presName="compNode" presStyleCnt="0"/>
      <dgm:spPr/>
    </dgm:pt>
    <dgm:pt modelId="{31182F5B-4F4A-46C1-B22B-35184BFFAB01}" type="pres">
      <dgm:prSet presAssocID="{F2D2C9CE-CD97-4C44-B91C-76C37DDCD759}" presName="bgRect" presStyleLbl="bgShp" presStyleIdx="4" presStyleCnt="5"/>
      <dgm:spPr/>
    </dgm:pt>
    <dgm:pt modelId="{6F338ACE-B385-451F-B38E-CB8FEDE8EC76}" type="pres">
      <dgm:prSet presAssocID="{F2D2C9CE-CD97-4C44-B91C-76C37DDCD759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0C581B7-3836-481F-9D81-DF49A42C799F}" type="pres">
      <dgm:prSet presAssocID="{F2D2C9CE-CD97-4C44-B91C-76C37DDCD759}" presName="spaceRect" presStyleCnt="0"/>
      <dgm:spPr/>
    </dgm:pt>
    <dgm:pt modelId="{5CA73746-BC90-4189-8FF7-CBF910958260}" type="pres">
      <dgm:prSet presAssocID="{F2D2C9CE-CD97-4C44-B91C-76C37DDCD759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0550C24-9811-4C39-94BD-3A3980193257}" srcId="{7BB93360-50F1-4D80-8D89-ED8A2DBBC26F}" destId="{F2D2C9CE-CD97-4C44-B91C-76C37DDCD759}" srcOrd="4" destOrd="0" parTransId="{653FC70E-DA7C-41C9-9A78-763B0BE0CF3F}" sibTransId="{FE5C6372-1D9D-44CD-9A60-30F1CD6FC861}"/>
    <dgm:cxn modelId="{57E6844E-AB49-4169-8DAF-E59631B97AB4}" type="presOf" srcId="{F2D2C9CE-CD97-4C44-B91C-76C37DDCD759}" destId="{5CA73746-BC90-4189-8FF7-CBF910958260}" srcOrd="0" destOrd="0" presId="urn:microsoft.com/office/officeart/2018/2/layout/IconVerticalSolidList"/>
    <dgm:cxn modelId="{2490C184-DC95-4CB0-9EF8-A72A68874073}" srcId="{7BB93360-50F1-4D80-8D89-ED8A2DBBC26F}" destId="{73A89005-01F5-45CA-A884-6060173C079C}" srcOrd="3" destOrd="0" parTransId="{8B709DA4-42DC-40F6-B3BD-E4DB7BF23CAF}" sibTransId="{D7080230-1956-4FA7-9D62-186707F6EE77}"/>
    <dgm:cxn modelId="{DA3AADA6-20AF-49A3-900D-37375A015B19}" srcId="{7BB93360-50F1-4D80-8D89-ED8A2DBBC26F}" destId="{0C1BC96B-051E-40EF-8AA4-1C2AC00E6265}" srcOrd="2" destOrd="0" parTransId="{C063989C-0D49-43CE-A15A-FC3EF1FC3495}" sibTransId="{1AC30E64-6FA1-43F9-8409-53D940A5D8C7}"/>
    <dgm:cxn modelId="{E28EE5A7-9118-4CAB-AFEE-50FC878AB580}" type="presOf" srcId="{0C1BC96B-051E-40EF-8AA4-1C2AC00E6265}" destId="{DA9C6D60-F83B-4448-AE17-7A72F62F9CB7}" srcOrd="0" destOrd="0" presId="urn:microsoft.com/office/officeart/2018/2/layout/IconVerticalSolidList"/>
    <dgm:cxn modelId="{0FA0A9AA-64D5-4C02-A7CA-DCD2368E63B5}" srcId="{7BB93360-50F1-4D80-8D89-ED8A2DBBC26F}" destId="{67CFF4FC-9AF4-4DAE-A3B0-79D700DD6831}" srcOrd="1" destOrd="0" parTransId="{CBB56912-BC05-41BC-A4F6-7D3C253E34FA}" sibTransId="{5CFCA9FF-DE76-4440-9DC9-BB8E8819E222}"/>
    <dgm:cxn modelId="{C8A92CCD-FFCF-4A2C-B5A7-4327DF29123E}" type="presOf" srcId="{67CFF4FC-9AF4-4DAE-A3B0-79D700DD6831}" destId="{CF9B063E-6715-4D15-A250-DAA8B49FA874}" srcOrd="0" destOrd="0" presId="urn:microsoft.com/office/officeart/2018/2/layout/IconVerticalSolidList"/>
    <dgm:cxn modelId="{DB29C3DD-9F66-45F9-BC51-5677A2280516}" srcId="{7BB93360-50F1-4D80-8D89-ED8A2DBBC26F}" destId="{3FE3DABC-3AE6-45F5-AC97-B40C7F7C3ADC}" srcOrd="0" destOrd="0" parTransId="{E205769C-02C5-424A-BAE1-8B681CF9BD7B}" sibTransId="{DE428B2F-63F9-4D05-A0BB-9E7AF64D737B}"/>
    <dgm:cxn modelId="{7314E5DE-0498-4A00-80FC-610862554248}" type="presOf" srcId="{7BB93360-50F1-4D80-8D89-ED8A2DBBC26F}" destId="{8B71C6ED-5558-4A66-B6C6-15B3B2F9C41E}" srcOrd="0" destOrd="0" presId="urn:microsoft.com/office/officeart/2018/2/layout/IconVerticalSolidList"/>
    <dgm:cxn modelId="{86B0D6E1-8543-4C59-B5E6-8DDD5804138F}" type="presOf" srcId="{73A89005-01F5-45CA-A884-6060173C079C}" destId="{79928E5F-E46D-40F2-B075-CBCF80E0623A}" srcOrd="0" destOrd="0" presId="urn:microsoft.com/office/officeart/2018/2/layout/IconVerticalSolidList"/>
    <dgm:cxn modelId="{6F874EFD-FEE2-4E93-99B5-E254078B8FC3}" type="presOf" srcId="{3FE3DABC-3AE6-45F5-AC97-B40C7F7C3ADC}" destId="{9A9BDF0F-50A2-4B7C-8ACD-C3DAC7AB6F04}" srcOrd="0" destOrd="0" presId="urn:microsoft.com/office/officeart/2018/2/layout/IconVerticalSolidList"/>
    <dgm:cxn modelId="{0384525B-A9AB-421F-8F34-50575863F78B}" type="presParOf" srcId="{8B71C6ED-5558-4A66-B6C6-15B3B2F9C41E}" destId="{691A6C5D-8A51-49C4-BC2E-ACA1C2A61E1A}" srcOrd="0" destOrd="0" presId="urn:microsoft.com/office/officeart/2018/2/layout/IconVerticalSolidList"/>
    <dgm:cxn modelId="{53A2E253-1536-47CC-85AA-9E8C1874EE87}" type="presParOf" srcId="{691A6C5D-8A51-49C4-BC2E-ACA1C2A61E1A}" destId="{4C13A6C5-B646-4C28-AE57-11419DBDB413}" srcOrd="0" destOrd="0" presId="urn:microsoft.com/office/officeart/2018/2/layout/IconVerticalSolidList"/>
    <dgm:cxn modelId="{C4DFDB31-DB90-4922-81E8-748B4CB9B46A}" type="presParOf" srcId="{691A6C5D-8A51-49C4-BC2E-ACA1C2A61E1A}" destId="{44D8B63B-A730-41B4-95E7-0FE5D7BCFB54}" srcOrd="1" destOrd="0" presId="urn:microsoft.com/office/officeart/2018/2/layout/IconVerticalSolidList"/>
    <dgm:cxn modelId="{E2341D74-11AF-469B-AECB-BE0BB49B4F57}" type="presParOf" srcId="{691A6C5D-8A51-49C4-BC2E-ACA1C2A61E1A}" destId="{D73061F5-11C6-4B9F-9544-FFCE955E06A8}" srcOrd="2" destOrd="0" presId="urn:microsoft.com/office/officeart/2018/2/layout/IconVerticalSolidList"/>
    <dgm:cxn modelId="{0F6B465D-FE39-4E2A-A23F-2678905164CB}" type="presParOf" srcId="{691A6C5D-8A51-49C4-BC2E-ACA1C2A61E1A}" destId="{9A9BDF0F-50A2-4B7C-8ACD-C3DAC7AB6F04}" srcOrd="3" destOrd="0" presId="urn:microsoft.com/office/officeart/2018/2/layout/IconVerticalSolidList"/>
    <dgm:cxn modelId="{2366B1DF-3B08-4E02-8453-3CFBE5CDF6D3}" type="presParOf" srcId="{8B71C6ED-5558-4A66-B6C6-15B3B2F9C41E}" destId="{A3DA73E3-D697-41B5-9490-5F755A73393D}" srcOrd="1" destOrd="0" presId="urn:microsoft.com/office/officeart/2018/2/layout/IconVerticalSolidList"/>
    <dgm:cxn modelId="{1E8D0F13-8D9A-4F36-9FBB-C814F53B038F}" type="presParOf" srcId="{8B71C6ED-5558-4A66-B6C6-15B3B2F9C41E}" destId="{AAA7249C-C602-4755-9EFF-91ADF6E3F57C}" srcOrd="2" destOrd="0" presId="urn:microsoft.com/office/officeart/2018/2/layout/IconVerticalSolidList"/>
    <dgm:cxn modelId="{02FB312F-9711-410B-8B61-EA656816FF52}" type="presParOf" srcId="{AAA7249C-C602-4755-9EFF-91ADF6E3F57C}" destId="{A6A02AA4-FE05-48F4-B695-657538DC5E46}" srcOrd="0" destOrd="0" presId="urn:microsoft.com/office/officeart/2018/2/layout/IconVerticalSolidList"/>
    <dgm:cxn modelId="{DE7F3B9C-7DA0-433C-9B22-1D3BE48F9E28}" type="presParOf" srcId="{AAA7249C-C602-4755-9EFF-91ADF6E3F57C}" destId="{2368C257-22FD-4E02-94F4-4D9621CF2597}" srcOrd="1" destOrd="0" presId="urn:microsoft.com/office/officeart/2018/2/layout/IconVerticalSolidList"/>
    <dgm:cxn modelId="{1371D837-4976-4C4F-9235-144704ED8E10}" type="presParOf" srcId="{AAA7249C-C602-4755-9EFF-91ADF6E3F57C}" destId="{29C99656-58FF-4A56-B25F-7159269878E2}" srcOrd="2" destOrd="0" presId="urn:microsoft.com/office/officeart/2018/2/layout/IconVerticalSolidList"/>
    <dgm:cxn modelId="{822FD161-A05A-46B8-9E1C-2FE6D8017158}" type="presParOf" srcId="{AAA7249C-C602-4755-9EFF-91ADF6E3F57C}" destId="{CF9B063E-6715-4D15-A250-DAA8B49FA874}" srcOrd="3" destOrd="0" presId="urn:microsoft.com/office/officeart/2018/2/layout/IconVerticalSolidList"/>
    <dgm:cxn modelId="{43E19491-9B6B-4F4D-984C-73E9704A28C1}" type="presParOf" srcId="{8B71C6ED-5558-4A66-B6C6-15B3B2F9C41E}" destId="{3E57C91F-610D-4791-A56B-5C53592758F6}" srcOrd="3" destOrd="0" presId="urn:microsoft.com/office/officeart/2018/2/layout/IconVerticalSolidList"/>
    <dgm:cxn modelId="{71AED2E5-8CDE-4598-92DF-38965613A060}" type="presParOf" srcId="{8B71C6ED-5558-4A66-B6C6-15B3B2F9C41E}" destId="{65927882-BE1F-4897-B9DF-3AE09BA1D401}" srcOrd="4" destOrd="0" presId="urn:microsoft.com/office/officeart/2018/2/layout/IconVerticalSolidList"/>
    <dgm:cxn modelId="{0CD3C22C-582C-497C-AC71-76C80BB77F80}" type="presParOf" srcId="{65927882-BE1F-4897-B9DF-3AE09BA1D401}" destId="{147D80A9-F57F-4D6B-A364-484373475874}" srcOrd="0" destOrd="0" presId="urn:microsoft.com/office/officeart/2018/2/layout/IconVerticalSolidList"/>
    <dgm:cxn modelId="{D74F9ED0-68E9-4F25-8A19-B079AB9A29FE}" type="presParOf" srcId="{65927882-BE1F-4897-B9DF-3AE09BA1D401}" destId="{B7061FC2-D082-42F1-AF9C-A88B38BB4698}" srcOrd="1" destOrd="0" presId="urn:microsoft.com/office/officeart/2018/2/layout/IconVerticalSolidList"/>
    <dgm:cxn modelId="{90DBB3CA-6C89-47FA-9533-FE3964120248}" type="presParOf" srcId="{65927882-BE1F-4897-B9DF-3AE09BA1D401}" destId="{3B120678-0414-416E-BCE8-615017902101}" srcOrd="2" destOrd="0" presId="urn:microsoft.com/office/officeart/2018/2/layout/IconVerticalSolidList"/>
    <dgm:cxn modelId="{E5BEC142-5FDF-47F4-9352-071FD62FF5B1}" type="presParOf" srcId="{65927882-BE1F-4897-B9DF-3AE09BA1D401}" destId="{DA9C6D60-F83B-4448-AE17-7A72F62F9CB7}" srcOrd="3" destOrd="0" presId="urn:microsoft.com/office/officeart/2018/2/layout/IconVerticalSolidList"/>
    <dgm:cxn modelId="{23869E4D-2420-4443-AFE4-8EEFEB2FB21F}" type="presParOf" srcId="{8B71C6ED-5558-4A66-B6C6-15B3B2F9C41E}" destId="{0C128838-0A1D-4409-9178-0947C3213857}" srcOrd="5" destOrd="0" presId="urn:microsoft.com/office/officeart/2018/2/layout/IconVerticalSolidList"/>
    <dgm:cxn modelId="{7AEC7191-3370-46E3-B387-414AD1391F68}" type="presParOf" srcId="{8B71C6ED-5558-4A66-B6C6-15B3B2F9C41E}" destId="{73EF4A6B-80D5-4668-9684-C45524285E26}" srcOrd="6" destOrd="0" presId="urn:microsoft.com/office/officeart/2018/2/layout/IconVerticalSolidList"/>
    <dgm:cxn modelId="{14452C5A-19B6-4FE9-BDBA-D94038A16C49}" type="presParOf" srcId="{73EF4A6B-80D5-4668-9684-C45524285E26}" destId="{67BAE7BB-F9FF-48C7-B78E-A197E195A02A}" srcOrd="0" destOrd="0" presId="urn:microsoft.com/office/officeart/2018/2/layout/IconVerticalSolidList"/>
    <dgm:cxn modelId="{5519E5AD-2FEF-4B8F-A528-D47492901450}" type="presParOf" srcId="{73EF4A6B-80D5-4668-9684-C45524285E26}" destId="{7867E00C-8F59-4245-A7CE-6C886B28BC7C}" srcOrd="1" destOrd="0" presId="urn:microsoft.com/office/officeart/2018/2/layout/IconVerticalSolidList"/>
    <dgm:cxn modelId="{097B2EF2-5193-44A4-AE12-CD3148759189}" type="presParOf" srcId="{73EF4A6B-80D5-4668-9684-C45524285E26}" destId="{520582CB-92C0-46E6-84C3-71ACB7314939}" srcOrd="2" destOrd="0" presId="urn:microsoft.com/office/officeart/2018/2/layout/IconVerticalSolidList"/>
    <dgm:cxn modelId="{A7D26C16-DFF9-4AD0-8AF4-AF942C11425F}" type="presParOf" srcId="{73EF4A6B-80D5-4668-9684-C45524285E26}" destId="{79928E5F-E46D-40F2-B075-CBCF80E0623A}" srcOrd="3" destOrd="0" presId="urn:microsoft.com/office/officeart/2018/2/layout/IconVerticalSolidList"/>
    <dgm:cxn modelId="{7D93FF08-8F42-44FC-ACFF-2E66F9464091}" type="presParOf" srcId="{8B71C6ED-5558-4A66-B6C6-15B3B2F9C41E}" destId="{26F8D320-10A9-4F70-A295-A6BE9E18D5A5}" srcOrd="7" destOrd="0" presId="urn:microsoft.com/office/officeart/2018/2/layout/IconVerticalSolidList"/>
    <dgm:cxn modelId="{8CBB422E-0287-48AB-A7DA-C8D456B5AF5E}" type="presParOf" srcId="{8B71C6ED-5558-4A66-B6C6-15B3B2F9C41E}" destId="{23BEFC05-41AF-4B6B-8DAB-32B0DEA1247E}" srcOrd="8" destOrd="0" presId="urn:microsoft.com/office/officeart/2018/2/layout/IconVerticalSolidList"/>
    <dgm:cxn modelId="{85E1051B-FB99-446A-888C-0B268C7AB802}" type="presParOf" srcId="{23BEFC05-41AF-4B6B-8DAB-32B0DEA1247E}" destId="{31182F5B-4F4A-46C1-B22B-35184BFFAB01}" srcOrd="0" destOrd="0" presId="urn:microsoft.com/office/officeart/2018/2/layout/IconVerticalSolidList"/>
    <dgm:cxn modelId="{02558589-F564-4AE2-8B75-65363F67C139}" type="presParOf" srcId="{23BEFC05-41AF-4B6B-8DAB-32B0DEA1247E}" destId="{6F338ACE-B385-451F-B38E-CB8FEDE8EC76}" srcOrd="1" destOrd="0" presId="urn:microsoft.com/office/officeart/2018/2/layout/IconVerticalSolidList"/>
    <dgm:cxn modelId="{0DF49624-4D05-48A5-92EB-075AD30D3036}" type="presParOf" srcId="{23BEFC05-41AF-4B6B-8DAB-32B0DEA1247E}" destId="{30C581B7-3836-481F-9D81-DF49A42C799F}" srcOrd="2" destOrd="0" presId="urn:microsoft.com/office/officeart/2018/2/layout/IconVerticalSolidList"/>
    <dgm:cxn modelId="{1EB97A81-F9F2-467F-B99F-EA4F07045EC4}" type="presParOf" srcId="{23BEFC05-41AF-4B6B-8DAB-32B0DEA1247E}" destId="{5CA73746-BC90-4189-8FF7-CBF91095826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938ADD3-C65E-4F3B-AC81-3A34313EAFA1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A6B8E4F-836B-4DA6-B5FF-BA5AAE1E128E}">
      <dgm:prSet/>
      <dgm:spPr/>
      <dgm:t>
        <a:bodyPr/>
        <a:lstStyle/>
        <a:p>
          <a:r>
            <a:rPr lang="en-IN"/>
            <a:t>Data Cleaning &amp; Transformation using Pandas</a:t>
          </a:r>
          <a:endParaRPr lang="en-US"/>
        </a:p>
      </dgm:t>
    </dgm:pt>
    <dgm:pt modelId="{B3CD8FF7-7743-442E-B5E3-8839A26577C7}" type="parTrans" cxnId="{4385A874-CD6C-4AEB-8ECE-8629E494F6BB}">
      <dgm:prSet/>
      <dgm:spPr/>
      <dgm:t>
        <a:bodyPr/>
        <a:lstStyle/>
        <a:p>
          <a:endParaRPr lang="en-US"/>
        </a:p>
      </dgm:t>
    </dgm:pt>
    <dgm:pt modelId="{17713DC9-6CC9-4890-B5C9-ED064F9FB551}" type="sibTrans" cxnId="{4385A874-CD6C-4AEB-8ECE-8629E494F6BB}">
      <dgm:prSet/>
      <dgm:spPr/>
      <dgm:t>
        <a:bodyPr/>
        <a:lstStyle/>
        <a:p>
          <a:endParaRPr lang="en-US"/>
        </a:p>
      </dgm:t>
    </dgm:pt>
    <dgm:pt modelId="{FCB6A43B-1777-477B-B284-26B56210C7A6}">
      <dgm:prSet/>
      <dgm:spPr/>
      <dgm:t>
        <a:bodyPr/>
        <a:lstStyle/>
        <a:p>
          <a:r>
            <a:rPr lang="en-IN"/>
            <a:t>Visualization using Matplotlib &amp; Seaborn</a:t>
          </a:r>
          <a:endParaRPr lang="en-US"/>
        </a:p>
      </dgm:t>
    </dgm:pt>
    <dgm:pt modelId="{E830DAA5-DF06-4F96-AD11-70FFCEE1DFA0}" type="parTrans" cxnId="{C72E3DE3-0649-4349-B845-7FB97546256F}">
      <dgm:prSet/>
      <dgm:spPr/>
      <dgm:t>
        <a:bodyPr/>
        <a:lstStyle/>
        <a:p>
          <a:endParaRPr lang="en-US"/>
        </a:p>
      </dgm:t>
    </dgm:pt>
    <dgm:pt modelId="{F788DEDD-A4D2-4EFB-832E-15E6A32DD1A5}" type="sibTrans" cxnId="{C72E3DE3-0649-4349-B845-7FB97546256F}">
      <dgm:prSet/>
      <dgm:spPr/>
      <dgm:t>
        <a:bodyPr/>
        <a:lstStyle/>
        <a:p>
          <a:endParaRPr lang="en-US"/>
        </a:p>
      </dgm:t>
    </dgm:pt>
    <dgm:pt modelId="{2FA5DC65-E8D5-4DCD-B4F0-8D2186A2C65A}">
      <dgm:prSet/>
      <dgm:spPr/>
      <dgm:t>
        <a:bodyPr/>
        <a:lstStyle/>
        <a:p>
          <a:r>
            <a:rPr lang="en-IN"/>
            <a:t>Hypothesis Testing </a:t>
          </a:r>
          <a:endParaRPr lang="en-US"/>
        </a:p>
      </dgm:t>
    </dgm:pt>
    <dgm:pt modelId="{66A00859-93A9-49F5-8D07-C43C6075E7DC}" type="parTrans" cxnId="{5FEC2D70-44D3-4C96-BF30-9865AC09A7AF}">
      <dgm:prSet/>
      <dgm:spPr/>
      <dgm:t>
        <a:bodyPr/>
        <a:lstStyle/>
        <a:p>
          <a:endParaRPr lang="en-US"/>
        </a:p>
      </dgm:t>
    </dgm:pt>
    <dgm:pt modelId="{3BAAC8B6-E34A-4514-9CE4-D2F8DA48C51D}" type="sibTrans" cxnId="{5FEC2D70-44D3-4C96-BF30-9865AC09A7AF}">
      <dgm:prSet/>
      <dgm:spPr/>
      <dgm:t>
        <a:bodyPr/>
        <a:lstStyle/>
        <a:p>
          <a:endParaRPr lang="en-US"/>
        </a:p>
      </dgm:t>
    </dgm:pt>
    <dgm:pt modelId="{8656A6D4-BE4B-4B69-BB8E-20EDDE9E3BE5}">
      <dgm:prSet/>
      <dgm:spPr/>
      <dgm:t>
        <a:bodyPr/>
        <a:lstStyle/>
        <a:p>
          <a:r>
            <a:rPr lang="en-IN"/>
            <a:t>Predictive Modelling using scikit-learn (Linear Regression)</a:t>
          </a:r>
          <a:endParaRPr lang="en-US"/>
        </a:p>
      </dgm:t>
    </dgm:pt>
    <dgm:pt modelId="{D7F5FE49-7EFE-44E7-B839-581E849C5BAA}" type="parTrans" cxnId="{DB06CF80-DD7B-406C-969A-E1BE18828A9C}">
      <dgm:prSet/>
      <dgm:spPr/>
      <dgm:t>
        <a:bodyPr/>
        <a:lstStyle/>
        <a:p>
          <a:endParaRPr lang="en-US"/>
        </a:p>
      </dgm:t>
    </dgm:pt>
    <dgm:pt modelId="{C188A8F5-C2F6-41D2-8BCA-29D3437C030B}" type="sibTrans" cxnId="{DB06CF80-DD7B-406C-969A-E1BE18828A9C}">
      <dgm:prSet/>
      <dgm:spPr/>
      <dgm:t>
        <a:bodyPr/>
        <a:lstStyle/>
        <a:p>
          <a:endParaRPr lang="en-US"/>
        </a:p>
      </dgm:t>
    </dgm:pt>
    <dgm:pt modelId="{1AA32581-8D44-4CB9-B225-48A79ED5CC9E}">
      <dgm:prSet/>
      <dgm:spPr/>
      <dgm:t>
        <a:bodyPr/>
        <a:lstStyle/>
        <a:p>
          <a:r>
            <a:rPr lang="en-IN"/>
            <a:t>Time-Series Forecasting using ARIMA or Exponential Smoothing</a:t>
          </a:r>
          <a:endParaRPr lang="en-US"/>
        </a:p>
      </dgm:t>
    </dgm:pt>
    <dgm:pt modelId="{1B67ED87-84D9-4A72-93D4-C2FA1B3721CF}" type="parTrans" cxnId="{D002272E-9248-40AB-9FDF-9D960816C7F1}">
      <dgm:prSet/>
      <dgm:spPr/>
      <dgm:t>
        <a:bodyPr/>
        <a:lstStyle/>
        <a:p>
          <a:endParaRPr lang="en-US"/>
        </a:p>
      </dgm:t>
    </dgm:pt>
    <dgm:pt modelId="{19701A35-F3BF-40FA-8AA1-4266110A84C2}" type="sibTrans" cxnId="{D002272E-9248-40AB-9FDF-9D960816C7F1}">
      <dgm:prSet/>
      <dgm:spPr/>
      <dgm:t>
        <a:bodyPr/>
        <a:lstStyle/>
        <a:p>
          <a:endParaRPr lang="en-US"/>
        </a:p>
      </dgm:t>
    </dgm:pt>
    <dgm:pt modelId="{95561BB3-E09B-411F-9F9C-CDC54555B960}">
      <dgm:prSet/>
      <dgm:spPr/>
      <dgm:t>
        <a:bodyPr/>
        <a:lstStyle/>
        <a:p>
          <a:r>
            <a:rPr lang="en-IN"/>
            <a:t>Business-driven inventory + promotion recommendations</a:t>
          </a:r>
          <a:endParaRPr lang="en-US"/>
        </a:p>
      </dgm:t>
    </dgm:pt>
    <dgm:pt modelId="{9D612C52-C582-420F-ABFA-BEBB9C8F2562}" type="parTrans" cxnId="{47C4A7A4-8CAB-4F9A-9F4F-590EAF8DD63D}">
      <dgm:prSet/>
      <dgm:spPr/>
      <dgm:t>
        <a:bodyPr/>
        <a:lstStyle/>
        <a:p>
          <a:endParaRPr lang="en-US"/>
        </a:p>
      </dgm:t>
    </dgm:pt>
    <dgm:pt modelId="{DD406FEB-D886-4347-B2F8-177C8DF24C14}" type="sibTrans" cxnId="{47C4A7A4-8CAB-4F9A-9F4F-590EAF8DD63D}">
      <dgm:prSet/>
      <dgm:spPr/>
      <dgm:t>
        <a:bodyPr/>
        <a:lstStyle/>
        <a:p>
          <a:endParaRPr lang="en-US"/>
        </a:p>
      </dgm:t>
    </dgm:pt>
    <dgm:pt modelId="{CDD5FE88-55AC-40EE-AAF0-088D8A067952}" type="pres">
      <dgm:prSet presAssocID="{C938ADD3-C65E-4F3B-AC81-3A34313EAFA1}" presName="linear" presStyleCnt="0">
        <dgm:presLayoutVars>
          <dgm:animLvl val="lvl"/>
          <dgm:resizeHandles val="exact"/>
        </dgm:presLayoutVars>
      </dgm:prSet>
      <dgm:spPr/>
    </dgm:pt>
    <dgm:pt modelId="{215C3294-98BD-41F2-B2D9-33C7F87B096A}" type="pres">
      <dgm:prSet presAssocID="{CA6B8E4F-836B-4DA6-B5FF-BA5AAE1E128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30FD0664-7712-4FE1-9A94-3CEB4B5E97E0}" type="pres">
      <dgm:prSet presAssocID="{17713DC9-6CC9-4890-B5C9-ED064F9FB551}" presName="spacer" presStyleCnt="0"/>
      <dgm:spPr/>
    </dgm:pt>
    <dgm:pt modelId="{11D667D2-5294-4563-B3D1-A2B950C4CA83}" type="pres">
      <dgm:prSet presAssocID="{FCB6A43B-1777-477B-B284-26B56210C7A6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9D348B23-35C9-437A-8C0B-8DCAA37A9CD1}" type="pres">
      <dgm:prSet presAssocID="{F788DEDD-A4D2-4EFB-832E-15E6A32DD1A5}" presName="spacer" presStyleCnt="0"/>
      <dgm:spPr/>
    </dgm:pt>
    <dgm:pt modelId="{B4525589-205D-434D-B7C7-C01FE983808C}" type="pres">
      <dgm:prSet presAssocID="{2FA5DC65-E8D5-4DCD-B4F0-8D2186A2C65A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8265C800-66C2-4873-B1A1-EB1A1E44C028}" type="pres">
      <dgm:prSet presAssocID="{3BAAC8B6-E34A-4514-9CE4-D2F8DA48C51D}" presName="spacer" presStyleCnt="0"/>
      <dgm:spPr/>
    </dgm:pt>
    <dgm:pt modelId="{7A4AA1F8-0F04-46C1-96FE-F0A74211D3BE}" type="pres">
      <dgm:prSet presAssocID="{8656A6D4-BE4B-4B69-BB8E-20EDDE9E3BE5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E73F5FFE-B763-4A8A-B6CA-EC9D2CF03D7C}" type="pres">
      <dgm:prSet presAssocID="{C188A8F5-C2F6-41D2-8BCA-29D3437C030B}" presName="spacer" presStyleCnt="0"/>
      <dgm:spPr/>
    </dgm:pt>
    <dgm:pt modelId="{AE30AB70-DBF0-46CD-8E40-095B734579E7}" type="pres">
      <dgm:prSet presAssocID="{1AA32581-8D44-4CB9-B225-48A79ED5CC9E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B203FBD7-80A8-4C47-9123-C537D1627D33}" type="pres">
      <dgm:prSet presAssocID="{19701A35-F3BF-40FA-8AA1-4266110A84C2}" presName="spacer" presStyleCnt="0"/>
      <dgm:spPr/>
    </dgm:pt>
    <dgm:pt modelId="{5644001D-D982-4BC4-B570-9D1CBA6A681D}" type="pres">
      <dgm:prSet presAssocID="{95561BB3-E09B-411F-9F9C-CDC54555B960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302E0301-3BDC-4ED4-A911-A4D836F1346A}" type="presOf" srcId="{8656A6D4-BE4B-4B69-BB8E-20EDDE9E3BE5}" destId="{7A4AA1F8-0F04-46C1-96FE-F0A74211D3BE}" srcOrd="0" destOrd="0" presId="urn:microsoft.com/office/officeart/2005/8/layout/vList2"/>
    <dgm:cxn modelId="{FB86D529-4F39-4D34-A971-87ADC7D78B0F}" type="presOf" srcId="{FCB6A43B-1777-477B-B284-26B56210C7A6}" destId="{11D667D2-5294-4563-B3D1-A2B950C4CA83}" srcOrd="0" destOrd="0" presId="urn:microsoft.com/office/officeart/2005/8/layout/vList2"/>
    <dgm:cxn modelId="{D002272E-9248-40AB-9FDF-9D960816C7F1}" srcId="{C938ADD3-C65E-4F3B-AC81-3A34313EAFA1}" destId="{1AA32581-8D44-4CB9-B225-48A79ED5CC9E}" srcOrd="4" destOrd="0" parTransId="{1B67ED87-84D9-4A72-93D4-C2FA1B3721CF}" sibTransId="{19701A35-F3BF-40FA-8AA1-4266110A84C2}"/>
    <dgm:cxn modelId="{B473EC34-5344-4186-B05D-7259E0B75535}" type="presOf" srcId="{1AA32581-8D44-4CB9-B225-48A79ED5CC9E}" destId="{AE30AB70-DBF0-46CD-8E40-095B734579E7}" srcOrd="0" destOrd="0" presId="urn:microsoft.com/office/officeart/2005/8/layout/vList2"/>
    <dgm:cxn modelId="{5FEC2D70-44D3-4C96-BF30-9865AC09A7AF}" srcId="{C938ADD3-C65E-4F3B-AC81-3A34313EAFA1}" destId="{2FA5DC65-E8D5-4DCD-B4F0-8D2186A2C65A}" srcOrd="2" destOrd="0" parTransId="{66A00859-93A9-49F5-8D07-C43C6075E7DC}" sibTransId="{3BAAC8B6-E34A-4514-9CE4-D2F8DA48C51D}"/>
    <dgm:cxn modelId="{4385A874-CD6C-4AEB-8ECE-8629E494F6BB}" srcId="{C938ADD3-C65E-4F3B-AC81-3A34313EAFA1}" destId="{CA6B8E4F-836B-4DA6-B5FF-BA5AAE1E128E}" srcOrd="0" destOrd="0" parTransId="{B3CD8FF7-7743-442E-B5E3-8839A26577C7}" sibTransId="{17713DC9-6CC9-4890-B5C9-ED064F9FB551}"/>
    <dgm:cxn modelId="{DB06CF80-DD7B-406C-969A-E1BE18828A9C}" srcId="{C938ADD3-C65E-4F3B-AC81-3A34313EAFA1}" destId="{8656A6D4-BE4B-4B69-BB8E-20EDDE9E3BE5}" srcOrd="3" destOrd="0" parTransId="{D7F5FE49-7EFE-44E7-B839-581E849C5BAA}" sibTransId="{C188A8F5-C2F6-41D2-8BCA-29D3437C030B}"/>
    <dgm:cxn modelId="{7FD48187-BF28-42A0-8C06-9E119131EBB6}" type="presOf" srcId="{95561BB3-E09B-411F-9F9C-CDC54555B960}" destId="{5644001D-D982-4BC4-B570-9D1CBA6A681D}" srcOrd="0" destOrd="0" presId="urn:microsoft.com/office/officeart/2005/8/layout/vList2"/>
    <dgm:cxn modelId="{04032599-C46D-4C94-8D5C-0E2B0565F8E2}" type="presOf" srcId="{2FA5DC65-E8D5-4DCD-B4F0-8D2186A2C65A}" destId="{B4525589-205D-434D-B7C7-C01FE983808C}" srcOrd="0" destOrd="0" presId="urn:microsoft.com/office/officeart/2005/8/layout/vList2"/>
    <dgm:cxn modelId="{47C4A7A4-8CAB-4F9A-9F4F-590EAF8DD63D}" srcId="{C938ADD3-C65E-4F3B-AC81-3A34313EAFA1}" destId="{95561BB3-E09B-411F-9F9C-CDC54555B960}" srcOrd="5" destOrd="0" parTransId="{9D612C52-C582-420F-ABFA-BEBB9C8F2562}" sibTransId="{DD406FEB-D886-4347-B2F8-177C8DF24C14}"/>
    <dgm:cxn modelId="{B743AEDA-26AA-4D47-8F22-A06EFFF654B3}" type="presOf" srcId="{C938ADD3-C65E-4F3B-AC81-3A34313EAFA1}" destId="{CDD5FE88-55AC-40EE-AAF0-088D8A067952}" srcOrd="0" destOrd="0" presId="urn:microsoft.com/office/officeart/2005/8/layout/vList2"/>
    <dgm:cxn modelId="{C72E3DE3-0649-4349-B845-7FB97546256F}" srcId="{C938ADD3-C65E-4F3B-AC81-3A34313EAFA1}" destId="{FCB6A43B-1777-477B-B284-26B56210C7A6}" srcOrd="1" destOrd="0" parTransId="{E830DAA5-DF06-4F96-AD11-70FFCEE1DFA0}" sibTransId="{F788DEDD-A4D2-4EFB-832E-15E6A32DD1A5}"/>
    <dgm:cxn modelId="{60D3C8FF-EE82-4156-BB6D-AAE10FDC4438}" type="presOf" srcId="{CA6B8E4F-836B-4DA6-B5FF-BA5AAE1E128E}" destId="{215C3294-98BD-41F2-B2D9-33C7F87B096A}" srcOrd="0" destOrd="0" presId="urn:microsoft.com/office/officeart/2005/8/layout/vList2"/>
    <dgm:cxn modelId="{AF0211EA-ABD3-4D69-9E76-F6FEA4A28AFA}" type="presParOf" srcId="{CDD5FE88-55AC-40EE-AAF0-088D8A067952}" destId="{215C3294-98BD-41F2-B2D9-33C7F87B096A}" srcOrd="0" destOrd="0" presId="urn:microsoft.com/office/officeart/2005/8/layout/vList2"/>
    <dgm:cxn modelId="{FF3AE34C-C685-455F-AF76-4588C0F74B28}" type="presParOf" srcId="{CDD5FE88-55AC-40EE-AAF0-088D8A067952}" destId="{30FD0664-7712-4FE1-9A94-3CEB4B5E97E0}" srcOrd="1" destOrd="0" presId="urn:microsoft.com/office/officeart/2005/8/layout/vList2"/>
    <dgm:cxn modelId="{D899FD10-2A08-44EA-A422-A1C2F27AA415}" type="presParOf" srcId="{CDD5FE88-55AC-40EE-AAF0-088D8A067952}" destId="{11D667D2-5294-4563-B3D1-A2B950C4CA83}" srcOrd="2" destOrd="0" presId="urn:microsoft.com/office/officeart/2005/8/layout/vList2"/>
    <dgm:cxn modelId="{77F01D88-12A2-4EC6-8269-1DC4D7508DA3}" type="presParOf" srcId="{CDD5FE88-55AC-40EE-AAF0-088D8A067952}" destId="{9D348B23-35C9-437A-8C0B-8DCAA37A9CD1}" srcOrd="3" destOrd="0" presId="urn:microsoft.com/office/officeart/2005/8/layout/vList2"/>
    <dgm:cxn modelId="{DFEF2CAD-BA53-4D9F-9C70-37F4D82923D6}" type="presParOf" srcId="{CDD5FE88-55AC-40EE-AAF0-088D8A067952}" destId="{B4525589-205D-434D-B7C7-C01FE983808C}" srcOrd="4" destOrd="0" presId="urn:microsoft.com/office/officeart/2005/8/layout/vList2"/>
    <dgm:cxn modelId="{0EA83457-8088-4B0E-A75D-729EB8C9B6E3}" type="presParOf" srcId="{CDD5FE88-55AC-40EE-AAF0-088D8A067952}" destId="{8265C800-66C2-4873-B1A1-EB1A1E44C028}" srcOrd="5" destOrd="0" presId="urn:microsoft.com/office/officeart/2005/8/layout/vList2"/>
    <dgm:cxn modelId="{CBB85213-A645-44E0-B7F9-04986B202A06}" type="presParOf" srcId="{CDD5FE88-55AC-40EE-AAF0-088D8A067952}" destId="{7A4AA1F8-0F04-46C1-96FE-F0A74211D3BE}" srcOrd="6" destOrd="0" presId="urn:microsoft.com/office/officeart/2005/8/layout/vList2"/>
    <dgm:cxn modelId="{750054CA-2EC3-49AB-96FE-C667EE6317A4}" type="presParOf" srcId="{CDD5FE88-55AC-40EE-AAF0-088D8A067952}" destId="{E73F5FFE-B763-4A8A-B6CA-EC9D2CF03D7C}" srcOrd="7" destOrd="0" presId="urn:microsoft.com/office/officeart/2005/8/layout/vList2"/>
    <dgm:cxn modelId="{F641D379-CFDF-48C1-ADC2-5A3008AE2866}" type="presParOf" srcId="{CDD5FE88-55AC-40EE-AAF0-088D8A067952}" destId="{AE30AB70-DBF0-46CD-8E40-095B734579E7}" srcOrd="8" destOrd="0" presId="urn:microsoft.com/office/officeart/2005/8/layout/vList2"/>
    <dgm:cxn modelId="{8296D05C-6369-49F3-AAED-A239D5CBB977}" type="presParOf" srcId="{CDD5FE88-55AC-40EE-AAF0-088D8A067952}" destId="{B203FBD7-80A8-4C47-9123-C537D1627D33}" srcOrd="9" destOrd="0" presId="urn:microsoft.com/office/officeart/2005/8/layout/vList2"/>
    <dgm:cxn modelId="{BF562411-6844-4214-AF22-5972D85B5B7C}" type="presParOf" srcId="{CDD5FE88-55AC-40EE-AAF0-088D8A067952}" destId="{5644001D-D982-4BC4-B570-9D1CBA6A681D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0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0808B0-20F3-466F-AB2F-850592AC1D81}">
      <dsp:nvSpPr>
        <dsp:cNvPr id="0" name=""/>
        <dsp:cNvSpPr/>
      </dsp:nvSpPr>
      <dsp:spPr>
        <a:xfrm>
          <a:off x="0" y="162536"/>
          <a:ext cx="1610296" cy="10225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F02D13-10FF-4D24-BC35-43E1C4550F7F}">
      <dsp:nvSpPr>
        <dsp:cNvPr id="0" name=""/>
        <dsp:cNvSpPr/>
      </dsp:nvSpPr>
      <dsp:spPr>
        <a:xfrm>
          <a:off x="178921" y="332512"/>
          <a:ext cx="1610296" cy="10225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R² Score : -0.04</a:t>
          </a:r>
          <a:endParaRPr lang="en-US" sz="2500" kern="1200" dirty="0"/>
        </a:p>
      </dsp:txBody>
      <dsp:txXfrm>
        <a:off x="208870" y="362461"/>
        <a:ext cx="1550398" cy="962640"/>
      </dsp:txXfrm>
    </dsp:sp>
    <dsp:sp modelId="{173565E4-3C01-432A-82C6-1542804469BF}">
      <dsp:nvSpPr>
        <dsp:cNvPr id="0" name=""/>
        <dsp:cNvSpPr/>
      </dsp:nvSpPr>
      <dsp:spPr>
        <a:xfrm>
          <a:off x="1968140" y="162536"/>
          <a:ext cx="1610296" cy="10225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D83B2B-BADF-4EEB-8D4A-E8DE0908786D}">
      <dsp:nvSpPr>
        <dsp:cNvPr id="0" name=""/>
        <dsp:cNvSpPr/>
      </dsp:nvSpPr>
      <dsp:spPr>
        <a:xfrm>
          <a:off x="2147062" y="332512"/>
          <a:ext cx="1610296" cy="10225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/>
            <a:t>MAE  : 14589.28</a:t>
          </a:r>
          <a:endParaRPr lang="en-US" sz="2500" kern="1200"/>
        </a:p>
      </dsp:txBody>
      <dsp:txXfrm>
        <a:off x="2177011" y="362461"/>
        <a:ext cx="1550398" cy="962640"/>
      </dsp:txXfrm>
    </dsp:sp>
    <dsp:sp modelId="{BF2DB0A5-CD43-4004-BF86-855E753238FF}">
      <dsp:nvSpPr>
        <dsp:cNvPr id="0" name=""/>
        <dsp:cNvSpPr/>
      </dsp:nvSpPr>
      <dsp:spPr>
        <a:xfrm>
          <a:off x="3936281" y="162536"/>
          <a:ext cx="1610296" cy="102253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D7B77-F0BC-4AA2-BAA1-0339375568D1}">
      <dsp:nvSpPr>
        <dsp:cNvPr id="0" name=""/>
        <dsp:cNvSpPr/>
      </dsp:nvSpPr>
      <dsp:spPr>
        <a:xfrm>
          <a:off x="4115203" y="332512"/>
          <a:ext cx="1610296" cy="102253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/>
            <a:t>RMSE : 19417.38</a:t>
          </a:r>
          <a:endParaRPr lang="en-US" sz="2500" kern="1200"/>
        </a:p>
      </dsp:txBody>
      <dsp:txXfrm>
        <a:off x="4145152" y="362461"/>
        <a:ext cx="1550398" cy="9626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C13A6C5-B646-4C28-AE57-11419DBDB413}">
      <dsp:nvSpPr>
        <dsp:cNvPr id="0" name=""/>
        <dsp:cNvSpPr/>
      </dsp:nvSpPr>
      <dsp:spPr>
        <a:xfrm>
          <a:off x="0" y="3729"/>
          <a:ext cx="4211240" cy="79435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D8B63B-A730-41B4-95E7-0FE5D7BCFB54}">
      <dsp:nvSpPr>
        <dsp:cNvPr id="0" name=""/>
        <dsp:cNvSpPr/>
      </dsp:nvSpPr>
      <dsp:spPr>
        <a:xfrm>
          <a:off x="240293" y="182460"/>
          <a:ext cx="436897" cy="43689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9BDF0F-50A2-4B7C-8ACD-C3DAC7AB6F04}">
      <dsp:nvSpPr>
        <dsp:cNvPr id="0" name=""/>
        <dsp:cNvSpPr/>
      </dsp:nvSpPr>
      <dsp:spPr>
        <a:xfrm>
          <a:off x="917484" y="3729"/>
          <a:ext cx="3293755" cy="7943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70" tIns="84070" rIns="84070" bIns="8407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Sales show strong seasonality</a:t>
          </a:r>
        </a:p>
      </dsp:txBody>
      <dsp:txXfrm>
        <a:off x="917484" y="3729"/>
        <a:ext cx="3293755" cy="794359"/>
      </dsp:txXfrm>
    </dsp:sp>
    <dsp:sp modelId="{A6A02AA4-FE05-48F4-B695-657538DC5E46}">
      <dsp:nvSpPr>
        <dsp:cNvPr id="0" name=""/>
        <dsp:cNvSpPr/>
      </dsp:nvSpPr>
      <dsp:spPr>
        <a:xfrm>
          <a:off x="0" y="996678"/>
          <a:ext cx="4211240" cy="79435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68C257-22FD-4E02-94F4-4D9621CF2597}">
      <dsp:nvSpPr>
        <dsp:cNvPr id="0" name=""/>
        <dsp:cNvSpPr/>
      </dsp:nvSpPr>
      <dsp:spPr>
        <a:xfrm>
          <a:off x="240293" y="1175408"/>
          <a:ext cx="436897" cy="43689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9B063E-6715-4D15-A250-DAA8B49FA874}">
      <dsp:nvSpPr>
        <dsp:cNvPr id="0" name=""/>
        <dsp:cNvSpPr/>
      </dsp:nvSpPr>
      <dsp:spPr>
        <a:xfrm>
          <a:off x="917484" y="996678"/>
          <a:ext cx="3293755" cy="7943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70" tIns="84070" rIns="84070" bIns="8407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Holidays and discounts drive revenue uplift</a:t>
          </a:r>
        </a:p>
      </dsp:txBody>
      <dsp:txXfrm>
        <a:off x="917484" y="996678"/>
        <a:ext cx="3293755" cy="794359"/>
      </dsp:txXfrm>
    </dsp:sp>
    <dsp:sp modelId="{147D80A9-F57F-4D6B-A364-484373475874}">
      <dsp:nvSpPr>
        <dsp:cNvPr id="0" name=""/>
        <dsp:cNvSpPr/>
      </dsp:nvSpPr>
      <dsp:spPr>
        <a:xfrm>
          <a:off x="0" y="1989626"/>
          <a:ext cx="4211240" cy="79435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061FC2-D082-42F1-AF9C-A88B38BB4698}">
      <dsp:nvSpPr>
        <dsp:cNvPr id="0" name=""/>
        <dsp:cNvSpPr/>
      </dsp:nvSpPr>
      <dsp:spPr>
        <a:xfrm>
          <a:off x="240293" y="2168357"/>
          <a:ext cx="436897" cy="43689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A9C6D60-F83B-4448-AE17-7A72F62F9CB7}">
      <dsp:nvSpPr>
        <dsp:cNvPr id="0" name=""/>
        <dsp:cNvSpPr/>
      </dsp:nvSpPr>
      <dsp:spPr>
        <a:xfrm>
          <a:off x="917484" y="1989626"/>
          <a:ext cx="3293755" cy="7943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70" tIns="84070" rIns="84070" bIns="8407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Few stores generate majority of sales volume</a:t>
          </a:r>
        </a:p>
      </dsp:txBody>
      <dsp:txXfrm>
        <a:off x="917484" y="1989626"/>
        <a:ext cx="3293755" cy="794359"/>
      </dsp:txXfrm>
    </dsp:sp>
    <dsp:sp modelId="{67BAE7BB-F9FF-48C7-B78E-A197E195A02A}">
      <dsp:nvSpPr>
        <dsp:cNvPr id="0" name=""/>
        <dsp:cNvSpPr/>
      </dsp:nvSpPr>
      <dsp:spPr>
        <a:xfrm>
          <a:off x="0" y="2982575"/>
          <a:ext cx="4211240" cy="79435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867E00C-8F59-4245-A7CE-6C886B28BC7C}">
      <dsp:nvSpPr>
        <dsp:cNvPr id="0" name=""/>
        <dsp:cNvSpPr/>
      </dsp:nvSpPr>
      <dsp:spPr>
        <a:xfrm>
          <a:off x="240293" y="3161306"/>
          <a:ext cx="436897" cy="43689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928E5F-E46D-40F2-B075-CBCF80E0623A}">
      <dsp:nvSpPr>
        <dsp:cNvPr id="0" name=""/>
        <dsp:cNvSpPr/>
      </dsp:nvSpPr>
      <dsp:spPr>
        <a:xfrm>
          <a:off x="917484" y="2982575"/>
          <a:ext cx="3293755" cy="7943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70" tIns="84070" rIns="84070" bIns="8407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Forecasting improves inventory planning &amp; budgeting</a:t>
          </a:r>
        </a:p>
      </dsp:txBody>
      <dsp:txXfrm>
        <a:off x="917484" y="2982575"/>
        <a:ext cx="3293755" cy="794359"/>
      </dsp:txXfrm>
    </dsp:sp>
    <dsp:sp modelId="{31182F5B-4F4A-46C1-B22B-35184BFFAB01}">
      <dsp:nvSpPr>
        <dsp:cNvPr id="0" name=""/>
        <dsp:cNvSpPr/>
      </dsp:nvSpPr>
      <dsp:spPr>
        <a:xfrm>
          <a:off x="0" y="3975524"/>
          <a:ext cx="4211240" cy="79435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338ACE-B385-451F-B38E-CB8FEDE8EC76}">
      <dsp:nvSpPr>
        <dsp:cNvPr id="0" name=""/>
        <dsp:cNvSpPr/>
      </dsp:nvSpPr>
      <dsp:spPr>
        <a:xfrm>
          <a:off x="240293" y="4154255"/>
          <a:ext cx="436897" cy="43689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A73746-BC90-4189-8FF7-CBF910958260}">
      <dsp:nvSpPr>
        <dsp:cNvPr id="0" name=""/>
        <dsp:cNvSpPr/>
      </dsp:nvSpPr>
      <dsp:spPr>
        <a:xfrm>
          <a:off x="917484" y="3975524"/>
          <a:ext cx="3293755" cy="79435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070" tIns="84070" rIns="84070" bIns="8407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Data segmentation enables targeted business strategy</a:t>
          </a:r>
        </a:p>
      </dsp:txBody>
      <dsp:txXfrm>
        <a:off x="917484" y="3975524"/>
        <a:ext cx="3293755" cy="79435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5C3294-98BD-41F2-B2D9-33C7F87B096A}">
      <dsp:nvSpPr>
        <dsp:cNvPr id="0" name=""/>
        <dsp:cNvSpPr/>
      </dsp:nvSpPr>
      <dsp:spPr>
        <a:xfrm>
          <a:off x="0" y="828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Data Cleaning &amp; Transformation using Pandas</a:t>
          </a:r>
          <a:endParaRPr lang="en-US" sz="1800" kern="1200"/>
        </a:p>
      </dsp:txBody>
      <dsp:txXfrm>
        <a:off x="34954" y="43234"/>
        <a:ext cx="4802130" cy="646132"/>
      </dsp:txXfrm>
    </dsp:sp>
    <dsp:sp modelId="{11D667D2-5294-4563-B3D1-A2B950C4CA83}">
      <dsp:nvSpPr>
        <dsp:cNvPr id="0" name=""/>
        <dsp:cNvSpPr/>
      </dsp:nvSpPr>
      <dsp:spPr>
        <a:xfrm>
          <a:off x="0" y="77616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270963"/>
                <a:satOff val="-1326"/>
                <a:lumOff val="745"/>
                <a:alphaOff val="0"/>
                <a:tint val="98000"/>
                <a:lumMod val="114000"/>
              </a:schemeClr>
            </a:gs>
            <a:gs pos="100000">
              <a:schemeClr val="accent2">
                <a:hueOff val="270963"/>
                <a:satOff val="-1326"/>
                <a:lumOff val="74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Visualization using Matplotlib &amp; Seaborn</a:t>
          </a:r>
          <a:endParaRPr lang="en-US" sz="1800" kern="1200"/>
        </a:p>
      </dsp:txBody>
      <dsp:txXfrm>
        <a:off x="34954" y="811114"/>
        <a:ext cx="4802130" cy="646132"/>
      </dsp:txXfrm>
    </dsp:sp>
    <dsp:sp modelId="{B4525589-205D-434D-B7C7-C01FE983808C}">
      <dsp:nvSpPr>
        <dsp:cNvPr id="0" name=""/>
        <dsp:cNvSpPr/>
      </dsp:nvSpPr>
      <dsp:spPr>
        <a:xfrm>
          <a:off x="0" y="154404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541926"/>
                <a:satOff val="-2653"/>
                <a:lumOff val="1490"/>
                <a:alphaOff val="0"/>
                <a:tint val="98000"/>
                <a:lumMod val="114000"/>
              </a:schemeClr>
            </a:gs>
            <a:gs pos="100000">
              <a:schemeClr val="accent2">
                <a:hueOff val="541926"/>
                <a:satOff val="-2653"/>
                <a:lumOff val="149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Hypothesis Testing </a:t>
          </a:r>
          <a:endParaRPr lang="en-US" sz="1800" kern="1200"/>
        </a:p>
      </dsp:txBody>
      <dsp:txXfrm>
        <a:off x="34954" y="1578994"/>
        <a:ext cx="4802130" cy="646132"/>
      </dsp:txXfrm>
    </dsp:sp>
    <dsp:sp modelId="{7A4AA1F8-0F04-46C1-96FE-F0A74211D3BE}">
      <dsp:nvSpPr>
        <dsp:cNvPr id="0" name=""/>
        <dsp:cNvSpPr/>
      </dsp:nvSpPr>
      <dsp:spPr>
        <a:xfrm>
          <a:off x="0" y="231192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812888"/>
                <a:satOff val="-3979"/>
                <a:lumOff val="2235"/>
                <a:alphaOff val="0"/>
                <a:tint val="98000"/>
                <a:lumMod val="114000"/>
              </a:schemeClr>
            </a:gs>
            <a:gs pos="100000">
              <a:schemeClr val="accent2">
                <a:hueOff val="812888"/>
                <a:satOff val="-3979"/>
                <a:lumOff val="223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Predictive Modelling using scikit-learn (Linear Regression)</a:t>
          </a:r>
          <a:endParaRPr lang="en-US" sz="1800" kern="1200"/>
        </a:p>
      </dsp:txBody>
      <dsp:txXfrm>
        <a:off x="34954" y="2346874"/>
        <a:ext cx="4802130" cy="646132"/>
      </dsp:txXfrm>
    </dsp:sp>
    <dsp:sp modelId="{AE30AB70-DBF0-46CD-8E40-095B734579E7}">
      <dsp:nvSpPr>
        <dsp:cNvPr id="0" name=""/>
        <dsp:cNvSpPr/>
      </dsp:nvSpPr>
      <dsp:spPr>
        <a:xfrm>
          <a:off x="0" y="307980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1083851"/>
                <a:satOff val="-5306"/>
                <a:lumOff val="2980"/>
                <a:alphaOff val="0"/>
                <a:tint val="98000"/>
                <a:lumMod val="114000"/>
              </a:schemeClr>
            </a:gs>
            <a:gs pos="100000">
              <a:schemeClr val="accent2">
                <a:hueOff val="1083851"/>
                <a:satOff val="-5306"/>
                <a:lumOff val="298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Time-Series Forecasting using ARIMA or Exponential Smoothing</a:t>
          </a:r>
          <a:endParaRPr lang="en-US" sz="1800" kern="1200"/>
        </a:p>
      </dsp:txBody>
      <dsp:txXfrm>
        <a:off x="34954" y="3114754"/>
        <a:ext cx="4802130" cy="646132"/>
      </dsp:txXfrm>
    </dsp:sp>
    <dsp:sp modelId="{5644001D-D982-4BC4-B570-9D1CBA6A681D}">
      <dsp:nvSpPr>
        <dsp:cNvPr id="0" name=""/>
        <dsp:cNvSpPr/>
      </dsp:nvSpPr>
      <dsp:spPr>
        <a:xfrm>
          <a:off x="0" y="3847680"/>
          <a:ext cx="4872038" cy="716040"/>
        </a:xfrm>
        <a:prstGeom prst="roundRect">
          <a:avLst/>
        </a:prstGeom>
        <a:gradFill rotWithShape="0">
          <a:gsLst>
            <a:gs pos="0">
              <a:schemeClr val="accent2">
                <a:hueOff val="1354814"/>
                <a:satOff val="-6632"/>
                <a:lumOff val="3725"/>
                <a:alphaOff val="0"/>
                <a:tint val="98000"/>
                <a:lumMod val="114000"/>
              </a:schemeClr>
            </a:gs>
            <a:gs pos="100000">
              <a:schemeClr val="accent2">
                <a:hueOff val="1354814"/>
                <a:satOff val="-6632"/>
                <a:lumOff val="3725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Business-driven inventory + promotion recommendations</a:t>
          </a:r>
          <a:endParaRPr lang="en-US" sz="1800" kern="1200"/>
        </a:p>
      </dsp:txBody>
      <dsp:txXfrm>
        <a:off x="34954" y="3882634"/>
        <a:ext cx="4802130" cy="6461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5015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299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9414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271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348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188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393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80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537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5632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0642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658599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808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81271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5514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84283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34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2" r:id="rId1"/>
    <p:sldLayoutId id="2147483813" r:id="rId2"/>
    <p:sldLayoutId id="2147483814" r:id="rId3"/>
    <p:sldLayoutId id="2147483815" r:id="rId4"/>
    <p:sldLayoutId id="2147483816" r:id="rId5"/>
    <p:sldLayoutId id="2147483817" r:id="rId6"/>
    <p:sldLayoutId id="2147483818" r:id="rId7"/>
    <p:sldLayoutId id="2147483819" r:id="rId8"/>
    <p:sldLayoutId id="2147483820" r:id="rId9"/>
    <p:sldLayoutId id="2147483821" r:id="rId10"/>
    <p:sldLayoutId id="2147483822" r:id="rId11"/>
    <p:sldLayoutId id="2147483823" r:id="rId12"/>
    <p:sldLayoutId id="2147483824" r:id="rId13"/>
    <p:sldLayoutId id="2147483825" r:id="rId14"/>
    <p:sldLayoutId id="2147483826" r:id="rId15"/>
    <p:sldLayoutId id="2147483827" r:id="rId16"/>
    <p:sldLayoutId id="2147483828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2.xml"/><Relationship Id="rId3" Type="http://schemas.openxmlformats.org/officeDocument/2006/relationships/image" Target="../media/image4.png"/><Relationship Id="rId7" Type="http://schemas.openxmlformats.org/officeDocument/2006/relationships/diagramLayout" Target="../diagrams/layou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diagramData" Target="../diagrams/data2.xml"/><Relationship Id="rId5" Type="http://schemas.openxmlformats.org/officeDocument/2006/relationships/image" Target="../media/image6.png"/><Relationship Id="rId10" Type="http://schemas.microsoft.com/office/2007/relationships/diagramDrawing" Target="../diagrams/drawing2.xml"/><Relationship Id="rId4" Type="http://schemas.openxmlformats.org/officeDocument/2006/relationships/image" Target="../media/image5.png"/><Relationship Id="rId9" Type="http://schemas.openxmlformats.org/officeDocument/2006/relationships/diagramColors" Target="../diagrams/colors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diagramQuickStyle" Target="../diagrams/quickStyle3.xml"/><Relationship Id="rId3" Type="http://schemas.openxmlformats.org/officeDocument/2006/relationships/image" Target="../media/image4.png"/><Relationship Id="rId7" Type="http://schemas.openxmlformats.org/officeDocument/2006/relationships/diagramLayout" Target="../diagrams/layout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Relationship Id="rId6" Type="http://schemas.openxmlformats.org/officeDocument/2006/relationships/diagramData" Target="../diagrams/data3.xml"/><Relationship Id="rId5" Type="http://schemas.openxmlformats.org/officeDocument/2006/relationships/image" Target="../media/image6.png"/><Relationship Id="rId10" Type="http://schemas.microsoft.com/office/2007/relationships/diagramDrawing" Target="../diagrams/drawing3.xml"/><Relationship Id="rId4" Type="http://schemas.openxmlformats.org/officeDocument/2006/relationships/image" Target="../media/image5.png"/><Relationship Id="rId9" Type="http://schemas.openxmlformats.org/officeDocument/2006/relationships/diagramColors" Target="../diagrams/colors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5775" y="1454964"/>
            <a:ext cx="4691671" cy="330884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1"/>
              <a:t>Retail Sales Analysis &amp; Forecasting</a:t>
            </a:r>
            <a:br>
              <a:rPr lang="en-US" sz="3400"/>
            </a:br>
            <a:r>
              <a:rPr lang="en-US" sz="3400" i="1"/>
              <a:t>Walmart Retail Store Dataset</a:t>
            </a:r>
            <a:br>
              <a:rPr lang="en-US" sz="3400"/>
            </a:br>
            <a:endParaRPr lang="en-US" sz="340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5775" y="4763803"/>
            <a:ext cx="4691671" cy="63923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Prepared By: </a:t>
            </a:r>
            <a:r>
              <a:rPr lang="en-US" b="1" dirty="0"/>
              <a:t>Anushree Diwan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 descr="Person writing on a notepad">
            <a:extLst>
              <a:ext uri="{FF2B5EF4-FFF2-40B4-BE49-F238E27FC236}">
                <a16:creationId xmlns:a16="http://schemas.microsoft.com/office/drawing/2014/main" id="{B658A897-3832-1F00-F8AF-CB26B6D2C8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370" r="34461"/>
          <a:stretch>
            <a:fillRect/>
          </a:stretch>
        </p:blipFill>
        <p:spPr>
          <a:xfrm>
            <a:off x="5667986" y="10"/>
            <a:ext cx="3476014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EC9835E-03D3-4D0F-9408-14C8B62C0F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72" name="Oval 7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78" name="Rectangle 7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 useBgFill="1">
        <p:nvSpPr>
          <p:cNvPr id="80" name="Rectangle 79">
            <a:extLst>
              <a:ext uri="{FF2B5EF4-FFF2-40B4-BE49-F238E27FC236}">
                <a16:creationId xmlns:a16="http://schemas.microsoft.com/office/drawing/2014/main" id="{DDBA86CC-34C3-43C1-B328-62490FE690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B394B9-4B4A-1347-068A-802651437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9857" y="1645920"/>
            <a:ext cx="264215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 defTabSz="457200">
              <a:lnSpc>
                <a:spcPct val="90000"/>
              </a:lnSpc>
            </a:pPr>
            <a:r>
              <a:rPr lang="en-US" sz="3600" b="0" i="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EXECUTIVE OVERVIEW</a:t>
            </a:r>
            <a:br>
              <a:rPr lang="en-US" sz="3600" b="0" i="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600" b="0" i="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🎯 </a:t>
            </a:r>
            <a:r>
              <a:rPr lang="en-US" sz="3600" dirty="0">
                <a:solidFill>
                  <a:schemeClr val="tx1"/>
                </a:solidFill>
              </a:rPr>
              <a:t>Business Objective</a:t>
            </a:r>
            <a:br>
              <a:rPr lang="en-US" sz="3600" dirty="0">
                <a:solidFill>
                  <a:schemeClr val="tx1"/>
                </a:solidFill>
              </a:rPr>
            </a:br>
            <a:endParaRPr lang="en-US" sz="3600" b="0" i="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CF4C9D6-90BC-48A0-91E8-0F0373CA11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A4626C8-5C6C-E874-0911-9BF3B4A7261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621873" y="1645920"/>
            <a:ext cx="4720836" cy="447082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Ctr="0" compatLnSpc="1">
            <a:prstTxWarp prst="textNoShape">
              <a:avLst/>
            </a:prstTxWarp>
            <a:normAutofit/>
          </a:bodyPr>
          <a:lstStyle/>
          <a:p>
            <a:pPr defTabSz="457200"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Understand how sales vary across regions, product categories, and time</a:t>
            </a:r>
          </a:p>
          <a:p>
            <a:pPr defTabSz="457200">
              <a:buFont typeface="Wingdings 3" charset="2"/>
              <a:buChar char=""/>
            </a:pPr>
            <a:endParaRPr lang="en-US" dirty="0">
              <a:solidFill>
                <a:schemeClr val="tx1"/>
              </a:solidFill>
            </a:endParaRPr>
          </a:p>
          <a:p>
            <a:pPr defTabSz="457200"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Identify key revenue drivers (discounts, holidays, store contribution)</a:t>
            </a:r>
          </a:p>
          <a:p>
            <a:pPr defTabSz="457200">
              <a:buFont typeface="Wingdings 3" charset="2"/>
              <a:buChar char=""/>
            </a:pPr>
            <a:endParaRPr lang="en-US" dirty="0">
              <a:solidFill>
                <a:schemeClr val="tx1"/>
              </a:solidFill>
            </a:endParaRPr>
          </a:p>
          <a:p>
            <a:pPr defTabSz="457200"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Forecast future sales for next month/next quarter</a:t>
            </a:r>
          </a:p>
        </p:txBody>
      </p:sp>
    </p:spTree>
    <p:extLst>
      <p:ext uri="{BB962C8B-B14F-4D97-AF65-F5344CB8AC3E}">
        <p14:creationId xmlns:p14="http://schemas.microsoft.com/office/powerpoint/2010/main" val="2125243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5F383F8-2C4C-9CF9-D024-56A42DBF6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7534" y="370114"/>
            <a:ext cx="6619875" cy="1981200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IN" b="1" dirty="0"/>
              <a:t>Dataset Description</a:t>
            </a:r>
          </a:p>
          <a:p>
            <a:endParaRPr lang="en-IN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7AC4ABA-39AF-24A9-AA35-C569A9B39E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2760918"/>
              </p:ext>
            </p:extLst>
          </p:nvPr>
        </p:nvGraphicFramePr>
        <p:xfrm>
          <a:off x="943734" y="2452648"/>
          <a:ext cx="6711950" cy="228600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3355975">
                  <a:extLst>
                    <a:ext uri="{9D8B030D-6E8A-4147-A177-3AD203B41FA5}">
                      <a16:colId xmlns:a16="http://schemas.microsoft.com/office/drawing/2014/main" val="973610104"/>
                    </a:ext>
                  </a:extLst>
                </a:gridCol>
                <a:gridCol w="3355975">
                  <a:extLst>
                    <a:ext uri="{9D8B030D-6E8A-4147-A177-3AD203B41FA5}">
                      <a16:colId xmlns:a16="http://schemas.microsoft.com/office/drawing/2014/main" val="3553846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File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Purpose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86669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stores.csv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Store Type, Size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7504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features.csv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Economic Indicators, Holidays, Markdown Discounts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9912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train.csv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Weekly sales by Store &amp; Department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900488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AA9BCF4-C4EA-1D36-0EEC-F01547DA6BD1}"/>
              </a:ext>
            </a:extLst>
          </p:cNvPr>
          <p:cNvSpPr txBox="1"/>
          <p:nvPr/>
        </p:nvSpPr>
        <p:spPr>
          <a:xfrm>
            <a:off x="943734" y="5010544"/>
            <a:ext cx="671195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Note: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Units Sold, Unit Price, Revenue are NOT direct columns.</a:t>
            </a:r>
          </a:p>
          <a:p>
            <a:pPr marL="285750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1600" dirty="0">
                <a:latin typeface="Arial" panose="020B0604020202020204" pitchFamily="34" charset="0"/>
              </a:rPr>
              <a:t>We derived these metrics during analysis for business modeling.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9671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A405D-14A4-DB98-CAB5-900695EBB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9085" y="174172"/>
            <a:ext cx="6487885" cy="1066800"/>
          </a:xfrm>
        </p:spPr>
        <p:txBody>
          <a:bodyPr/>
          <a:lstStyle/>
          <a:p>
            <a:r>
              <a:rPr lang="en-US" sz="4000" b="1" dirty="0"/>
              <a:t>Data Preparation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185209-E539-0727-C55E-37CFF583F4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9085" y="1507670"/>
            <a:ext cx="7053943" cy="4642758"/>
          </a:xfrm>
        </p:spPr>
        <p:txBody>
          <a:bodyPr>
            <a:normAutofit/>
          </a:bodyPr>
          <a:lstStyle/>
          <a:p>
            <a:r>
              <a:rPr lang="en-US" b="1" dirty="0"/>
              <a:t>DATA PREPARATION</a:t>
            </a:r>
          </a:p>
          <a:p>
            <a:r>
              <a:rPr lang="en-US" dirty="0"/>
              <a:t>Converted Date → datetime</a:t>
            </a:r>
          </a:p>
          <a:p>
            <a:r>
              <a:rPr lang="en-US" dirty="0"/>
              <a:t>Filled missing values (Markdown discounts → 0)</a:t>
            </a:r>
          </a:p>
          <a:p>
            <a:r>
              <a:rPr lang="en-US" dirty="0"/>
              <a:t>Removed duplicates for consistency</a:t>
            </a:r>
          </a:p>
          <a:p>
            <a:r>
              <a:rPr lang="en-US" dirty="0"/>
              <a:t>Created new business metrics:</a:t>
            </a:r>
          </a:p>
          <a:p>
            <a:pPr lvl="1"/>
            <a:r>
              <a:rPr lang="en-US" sz="1800" b="1" dirty="0"/>
              <a:t>Revenue = Weekly Sales</a:t>
            </a:r>
            <a:endParaRPr lang="en-US" sz="1800" dirty="0"/>
          </a:p>
          <a:p>
            <a:pPr lvl="1"/>
            <a:r>
              <a:rPr lang="en-US" sz="1800" b="1" dirty="0"/>
              <a:t>Total Discount = Sum of all markdown fields</a:t>
            </a:r>
          </a:p>
          <a:p>
            <a:pPr lvl="1"/>
            <a:r>
              <a:rPr lang="en-US" sz="1800" b="1" dirty="0"/>
              <a:t>Unit Price by baseline </a:t>
            </a:r>
            <a:r>
              <a:rPr lang="en-US" sz="1800" b="1" dirty="0" err="1"/>
              <a:t>UnitPrice</a:t>
            </a:r>
            <a:endParaRPr lang="en-US" sz="1800" dirty="0"/>
          </a:p>
          <a:p>
            <a:pPr lvl="1"/>
            <a:r>
              <a:rPr lang="en-US" sz="1800" b="1" dirty="0"/>
              <a:t>Month and Quarter created for seasonal trends</a:t>
            </a:r>
            <a:endParaRPr lang="en-US" sz="1800" dirty="0"/>
          </a:p>
          <a:p>
            <a:br>
              <a:rPr lang="en-US" dirty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743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65" name="Picture 5164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5166" name="Picture 5165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5167" name="Oval 5166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5168" name="Picture 516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5169" name="Picture 5168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5170" name="Rectangle 5169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6BC2BA-9FEF-5874-95FA-D85513ECD1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7" y="629266"/>
            <a:ext cx="6939116" cy="1223983"/>
          </a:xfrm>
        </p:spPr>
        <p:txBody>
          <a:bodyPr vert="horz" lIns="91440" tIns="45720" rIns="91440" bIns="45720" rtlCol="0" anchor="t">
            <a:normAutofit/>
          </a:bodyPr>
          <a:lstStyle/>
          <a:p>
            <a:pPr defTabSz="457200">
              <a:lnSpc>
                <a:spcPct val="90000"/>
              </a:lnSpc>
            </a:pPr>
            <a:r>
              <a:rPr lang="en-US" sz="3200" b="1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EDA: Top 10 Stores by Revenue</a:t>
            </a:r>
            <a:br>
              <a:rPr lang="en-US" sz="33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3300" b="0" i="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61F0E2-894F-7E88-C23A-C42E1CBD33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6697" y="1676400"/>
            <a:ext cx="3497475" cy="4165613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 defTabSz="457200">
              <a:buFont typeface="Arial" panose="020B0604020202020204" pitchFamily="34" charset="0"/>
              <a:buChar char="•"/>
            </a:pPr>
            <a:r>
              <a:rPr lang="en-US" dirty="0"/>
              <a:t>A small group of stores contributes disproportionately high revenue share</a:t>
            </a:r>
          </a:p>
          <a:p>
            <a:pPr marL="285750" indent="-285750" defTabSz="457200">
              <a:buFont typeface="Arial" panose="020B0604020202020204" pitchFamily="34" charset="0"/>
              <a:buChar char="•"/>
            </a:pPr>
            <a:r>
              <a:rPr lang="en-US" dirty="0"/>
              <a:t>High-size stores generally show higher total weekly sales</a:t>
            </a:r>
          </a:p>
          <a:p>
            <a:pPr marL="285750" indent="-285750" defTabSz="457200">
              <a:buFont typeface="Arial" panose="020B0604020202020204" pitchFamily="34" charset="0"/>
              <a:buChar char="•"/>
            </a:pPr>
            <a:r>
              <a:rPr lang="en-US" dirty="0"/>
              <a:t>This indicates opportunity for store-wise inventory and promotion planning</a:t>
            </a:r>
          </a:p>
          <a:p>
            <a:pPr defTabSz="457200">
              <a:buFont typeface="Wingdings 3" charset="2"/>
              <a:buChar char=""/>
            </a:pP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AEAB3F7-7356-D0FB-74FE-22A59C9899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744686" y="1723536"/>
            <a:ext cx="5131617" cy="4601064"/>
          </a:xfrm>
          <a:prstGeom prst="rect">
            <a:avLst/>
          </a:prstGeom>
          <a:noFill/>
          <a:effectLst>
            <a:outerShdw blurRad="50800" dist="38100" dir="5400000" algn="t" rotWithShape="0">
              <a:prstClr val="black">
                <a:alpha val="43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6247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6BCED-466B-606A-0705-493385D81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6442" y="718457"/>
            <a:ext cx="6620968" cy="696686"/>
          </a:xfrm>
        </p:spPr>
        <p:txBody>
          <a:bodyPr/>
          <a:lstStyle/>
          <a:p>
            <a:r>
              <a:rPr lang="en-US" sz="3200" b="1" dirty="0"/>
              <a:t>EDA: Revenue Trend Over Time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61CF2-A123-EFF0-D2B8-34A5F45760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6441" y="1208314"/>
            <a:ext cx="7091016" cy="4582886"/>
          </a:xfrm>
        </p:spPr>
        <p:txBody>
          <a:bodyPr>
            <a:normAutofit/>
          </a:bodyPr>
          <a:lstStyle/>
          <a:p>
            <a:r>
              <a:rPr lang="en-US" dirty="0"/>
              <a:t>Weekly sales plotted against timeline show </a:t>
            </a:r>
            <a:r>
              <a:rPr lang="en-US" b="1" dirty="0"/>
              <a:t>seasonal spikes</a:t>
            </a:r>
            <a:endParaRPr lang="en-US" dirty="0"/>
          </a:p>
          <a:p>
            <a:r>
              <a:rPr lang="en-US" dirty="0"/>
              <a:t>Strong increases observed during: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Holiday weeks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Year-end months</a:t>
            </a:r>
            <a:br>
              <a:rPr lang="en-US" dirty="0"/>
            </a:b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Promotion periods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1170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006094-BEAD-A4CE-1D74-F5F1CDBF8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020" y="117637"/>
            <a:ext cx="6939116" cy="704159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defTabSz="457200">
              <a:lnSpc>
                <a:spcPct val="90000"/>
              </a:lnSpc>
            </a:pPr>
            <a:r>
              <a:rPr lang="en-US" sz="3600" b="1" dirty="0"/>
              <a:t>Monthly Revenue</a:t>
            </a:r>
            <a:r>
              <a:rPr lang="en-US" sz="3600" b="1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 TREND </a:t>
            </a:r>
            <a:br>
              <a:rPr lang="en-US" sz="39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3900" b="0" i="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BA678-6DD5-DD5C-77A5-BCF5602EC5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5761" y="5257800"/>
            <a:ext cx="8790219" cy="1219200"/>
          </a:xfrm>
        </p:spPr>
        <p:txBody>
          <a:bodyPr vert="horz" lIns="91440" tIns="45720" rIns="91440" bIns="45720" rtlCol="0">
            <a:normAutofit/>
          </a:bodyPr>
          <a:lstStyle/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  <a:p>
            <a:pPr defTabSz="457200">
              <a:buFont typeface="Wingdings 3" charset="2"/>
              <a:buChar char=""/>
            </a:pP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9E1803-BDD3-C045-A5F7-3EF6A01C1815}"/>
              </a:ext>
            </a:extLst>
          </p:cNvPr>
          <p:cNvSpPr txBox="1"/>
          <p:nvPr/>
        </p:nvSpPr>
        <p:spPr>
          <a:xfrm>
            <a:off x="172441" y="1145576"/>
            <a:ext cx="49670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Sales grow during: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November–December (holiday season)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Promotion weeks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End-quarter demand spikes</a:t>
            </a:r>
            <a:endParaRPr lang="en-IN" dirty="0"/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06198A7B-F984-C8E3-9943-1698AAF338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56" y="2669685"/>
            <a:ext cx="8698442" cy="40668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Speech Bubble: Oval 18">
            <a:extLst>
              <a:ext uri="{FF2B5EF4-FFF2-40B4-BE49-F238E27FC236}">
                <a16:creationId xmlns:a16="http://schemas.microsoft.com/office/drawing/2014/main" id="{A071A36E-0F63-F94B-709A-2C002164C558}"/>
              </a:ext>
            </a:extLst>
          </p:cNvPr>
          <p:cNvSpPr/>
          <p:nvPr/>
        </p:nvSpPr>
        <p:spPr>
          <a:xfrm>
            <a:off x="5139487" y="16367"/>
            <a:ext cx="3796493" cy="2938353"/>
          </a:xfrm>
          <a:prstGeom prst="wedgeEllipseCallout">
            <a:avLst/>
          </a:prstGeom>
          <a:gradFill flip="none" rotWithShape="1">
            <a:gsLst>
              <a:gs pos="0">
                <a:schemeClr val="accent3">
                  <a:lumMod val="67000"/>
                </a:schemeClr>
              </a:gs>
              <a:gs pos="48000">
                <a:schemeClr val="accent3">
                  <a:lumMod val="97000"/>
                  <a:lumOff val="3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bg2"/>
                </a:solidFill>
              </a:rPr>
              <a:t>Insight:</a:t>
            </a:r>
          </a:p>
          <a:p>
            <a:endParaRPr lang="en-US" b="1" dirty="0">
              <a:solidFill>
                <a:schemeClr val="bg2"/>
              </a:solidFill>
            </a:endParaRPr>
          </a:p>
          <a:p>
            <a:r>
              <a:rPr lang="en-US" dirty="0">
                <a:solidFill>
                  <a:schemeClr val="bg2"/>
                </a:solidFill>
              </a:rPr>
              <a:t>“The business shows </a:t>
            </a:r>
            <a:r>
              <a:rPr lang="en-US" b="1" dirty="0">
                <a:solidFill>
                  <a:schemeClr val="bg2"/>
                </a:solidFill>
              </a:rPr>
              <a:t>strong seasonality</a:t>
            </a:r>
            <a:r>
              <a:rPr lang="en-US" dirty="0">
                <a:solidFill>
                  <a:schemeClr val="bg2"/>
                </a:solidFill>
              </a:rPr>
              <a:t> with predictable repeating growth during holiday months and quarter ends.”</a:t>
            </a:r>
          </a:p>
        </p:txBody>
      </p:sp>
    </p:spTree>
    <p:extLst>
      <p:ext uri="{BB962C8B-B14F-4D97-AF65-F5344CB8AC3E}">
        <p14:creationId xmlns:p14="http://schemas.microsoft.com/office/powerpoint/2010/main" val="39180490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229972"/>
            <a:ext cx="7055380" cy="705250"/>
          </a:xfrm>
        </p:spPr>
        <p:txBody>
          <a:bodyPr/>
          <a:lstStyle/>
          <a:p>
            <a:r>
              <a:rPr sz="3200" b="1" dirty="0"/>
              <a:t>Monthly </a:t>
            </a:r>
            <a:r>
              <a:rPr lang="en-IN" sz="3200" b="1" dirty="0"/>
              <a:t>Unit Sold</a:t>
            </a:r>
            <a:r>
              <a:rPr sz="3200" b="1" dirty="0"/>
              <a:t>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710" y="1210984"/>
            <a:ext cx="6536576" cy="642263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dirty="0"/>
              <a:t>Observation: Sales rise sharp</a:t>
            </a:r>
            <a:r>
              <a:rPr lang="en-IN" dirty="0"/>
              <a:t>l</a:t>
            </a:r>
            <a:r>
              <a:rPr dirty="0"/>
              <a:t>y around holiday seasons showing strong seasonality.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52CBDF1-8E83-E37A-5BDF-C7329E9DB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571" y="2449286"/>
            <a:ext cx="8560858" cy="4054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00A2F-67B8-E958-8E15-A9A159287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140" y="38635"/>
            <a:ext cx="5507317" cy="555172"/>
          </a:xfrm>
        </p:spPr>
        <p:txBody>
          <a:bodyPr/>
          <a:lstStyle/>
          <a:p>
            <a:r>
              <a:rPr lang="en-US" sz="3200" b="1" dirty="0"/>
              <a:t>Quarterly Sales Distribution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IN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D4D7-906A-0C16-2E35-B288AB9D79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78265" y="813190"/>
            <a:ext cx="4843289" cy="1521288"/>
          </a:xfrm>
        </p:spPr>
        <p:txBody>
          <a:bodyPr>
            <a:normAutofit fontScale="32500" lnSpcReduction="20000"/>
          </a:bodyPr>
          <a:lstStyle/>
          <a:p>
            <a:r>
              <a:rPr lang="en-US" sz="4300" b="1" dirty="0"/>
              <a:t>Observations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300" dirty="0"/>
              <a:t>Q4 contributes highest revenue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300" dirty="0"/>
              <a:t>Holiday quarters have highest variance (more unpredictable but larger payout)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300" dirty="0"/>
              <a:t>Non-holiday quarters benefit the most from promotions</a:t>
            </a:r>
          </a:p>
          <a:p>
            <a:endParaRPr lang="en-IN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54DAA86-D7A5-EB4B-BAC5-92FA19E95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65" y="2522732"/>
            <a:ext cx="7472363" cy="4198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hought Bubble: Cloud 7">
            <a:extLst>
              <a:ext uri="{FF2B5EF4-FFF2-40B4-BE49-F238E27FC236}">
                <a16:creationId xmlns:a16="http://schemas.microsoft.com/office/drawing/2014/main" id="{A7AEDBBA-C908-3934-26A7-8348CB06C446}"/>
              </a:ext>
            </a:extLst>
          </p:cNvPr>
          <p:cNvSpPr/>
          <p:nvPr/>
        </p:nvSpPr>
        <p:spPr>
          <a:xfrm>
            <a:off x="5584371" y="43544"/>
            <a:ext cx="3309259" cy="2819400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C334CF-9930-8290-10E7-585010073AA2}"/>
              </a:ext>
            </a:extLst>
          </p:cNvPr>
          <p:cNvSpPr txBox="1"/>
          <p:nvPr/>
        </p:nvSpPr>
        <p:spPr>
          <a:xfrm>
            <a:off x="6059260" y="425912"/>
            <a:ext cx="2359479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Insight:</a:t>
            </a:r>
          </a:p>
          <a:p>
            <a:endParaRPr lang="en-US" sz="1800" b="1" dirty="0"/>
          </a:p>
          <a:p>
            <a:r>
              <a:rPr lang="en-US" sz="1600" dirty="0"/>
              <a:t>“Inventory should be distributed based on </a:t>
            </a:r>
            <a:r>
              <a:rPr lang="en-US" sz="1600" b="1" dirty="0"/>
              <a:t>seasonal timing + store contribution</a:t>
            </a:r>
            <a:r>
              <a:rPr lang="en-US" sz="1600" dirty="0"/>
              <a:t>, not equally.”</a:t>
            </a:r>
          </a:p>
        </p:txBody>
      </p:sp>
    </p:spTree>
    <p:extLst>
      <p:ext uri="{BB962C8B-B14F-4D97-AF65-F5344CB8AC3E}">
        <p14:creationId xmlns:p14="http://schemas.microsoft.com/office/powerpoint/2010/main" val="2906684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E89FB-656D-5D02-8CD2-C3A525958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72" y="268133"/>
            <a:ext cx="7239000" cy="502711"/>
          </a:xfrm>
        </p:spPr>
        <p:txBody>
          <a:bodyPr/>
          <a:lstStyle/>
          <a:p>
            <a:r>
              <a:rPr lang="en-US" sz="3200" dirty="0"/>
              <a:t>Effect of Holiday on Sales</a:t>
            </a:r>
            <a:endParaRPr lang="en-IN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D3131-41A9-8430-27F4-B762CBE20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94307" y="1774372"/>
            <a:ext cx="2653692" cy="4637314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4AB10CC-96D2-07BB-321B-9911DE6AB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2411" y="1774370"/>
            <a:ext cx="5720522" cy="4637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8717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C61A4-5933-C13D-FCA7-905A84449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6571" y="272144"/>
            <a:ext cx="7467599" cy="782410"/>
          </a:xfrm>
        </p:spPr>
        <p:txBody>
          <a:bodyPr/>
          <a:lstStyle/>
          <a:p>
            <a:r>
              <a:rPr lang="en-US" sz="3200" b="1" dirty="0"/>
              <a:t>Correlation Heatmap Findings</a:t>
            </a:r>
            <a:br>
              <a:rPr lang="en-US" sz="4000" b="1" dirty="0"/>
            </a:br>
            <a:endParaRPr lang="en-IN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4BFDA5-96A7-81D0-074B-C833DCE3C0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1575027"/>
            <a:ext cx="3198438" cy="4804001"/>
          </a:xfrm>
        </p:spPr>
        <p:txBody>
          <a:bodyPr>
            <a:normAutofit/>
          </a:bodyPr>
          <a:lstStyle/>
          <a:p>
            <a:r>
              <a:rPr lang="en-US" dirty="0"/>
              <a:t>Key relationships found: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Total_Discount</a:t>
            </a:r>
            <a:r>
              <a:rPr lang="en-US" dirty="0"/>
              <a:t> ↗ Revenue (Positive correlation)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IsHoliday</a:t>
            </a:r>
            <a:r>
              <a:rPr lang="en-US" dirty="0"/>
              <a:t> ↗ Revenue (Significant uplift)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Units_Sold</a:t>
            </a:r>
            <a:r>
              <a:rPr lang="en-US" dirty="0"/>
              <a:t> strongly drives revenue movement</a:t>
            </a:r>
          </a:p>
          <a:p>
            <a:endParaRPr lang="en-I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EAA9299-2ABF-C521-C656-2FF008F8F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5009" y="1894115"/>
            <a:ext cx="5334250" cy="4484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8720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DFFB-3427-94F3-1518-890F988AB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71" y="250371"/>
            <a:ext cx="6542315" cy="631371"/>
          </a:xfrm>
        </p:spPr>
        <p:txBody>
          <a:bodyPr/>
          <a:lstStyle/>
          <a:p>
            <a:r>
              <a:rPr lang="en-US" sz="3200" b="1" dirty="0"/>
              <a:t>Correlation Heatmap Findings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C566DA-7735-33B9-DFC2-CC28BC4F73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0371" y="1621970"/>
            <a:ext cx="8773886" cy="3429001"/>
          </a:xfrm>
        </p:spPr>
        <p:txBody>
          <a:bodyPr>
            <a:noAutofit/>
          </a:bodyPr>
          <a:lstStyle/>
          <a:p>
            <a:pPr algn="just"/>
            <a:r>
              <a:rPr lang="en-US" sz="1400" b="1" dirty="0"/>
              <a:t>Correlation &amp; Statistical Findings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Discounts positively correlate with Revenue, especially during seasonal peaks.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Holiday weeks show significant sales uplift, demonstrating season-driven demand sensitivity.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Units sold is the strongest driver of revenue, directly influencing sales momentum.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Economic indicators (CPI, Fuel Price, Unemployment) show mild correlation, not strong enough alone to explain revenue changes.</a:t>
            </a:r>
          </a:p>
          <a:p>
            <a:pPr algn="just"/>
            <a:r>
              <a:rPr lang="en-US" sz="1400" b="1" dirty="0"/>
              <a:t>Hypothesis results: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/>
              <a:t>Discounts </a:t>
            </a:r>
            <a:r>
              <a:rPr lang="en-US" sz="1400" dirty="0"/>
              <a:t>have impact on sales → statistically supported (H₀ </a:t>
            </a:r>
            <a:r>
              <a:rPr lang="en-US" sz="1400"/>
              <a:t>rejected)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/>
              <a:t>Revenue </a:t>
            </a:r>
            <a:r>
              <a:rPr lang="en-US" sz="1400" dirty="0"/>
              <a:t>differs significantly across store locations/regions → statistically supported (H₀ rejected)</a:t>
            </a:r>
          </a:p>
          <a:p>
            <a:pPr algn="just"/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3541F-D8D2-0777-3D99-A4A85EBFF52C}"/>
              </a:ext>
            </a:extLst>
          </p:cNvPr>
          <p:cNvSpPr txBox="1"/>
          <p:nvPr/>
        </p:nvSpPr>
        <p:spPr>
          <a:xfrm>
            <a:off x="409575" y="5209793"/>
            <a:ext cx="8324850" cy="923330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just"/>
            <a:r>
              <a:rPr lang="en-US" sz="1800" b="1" dirty="0">
                <a:solidFill>
                  <a:schemeClr val="bg2"/>
                </a:solidFill>
              </a:rPr>
              <a:t>Conclusion:</a:t>
            </a:r>
            <a:r>
              <a:rPr lang="en-US" sz="1800" dirty="0">
                <a:solidFill>
                  <a:schemeClr val="bg2"/>
                </a:solidFill>
              </a:rPr>
              <a:t> Sales behavior is more influenced by </a:t>
            </a:r>
            <a:r>
              <a:rPr lang="en-US" sz="1800" b="1" dirty="0">
                <a:solidFill>
                  <a:schemeClr val="bg2"/>
                </a:solidFill>
              </a:rPr>
              <a:t>seasonality, store contribution, holidays and markdown discounts</a:t>
            </a:r>
            <a:r>
              <a:rPr lang="en-US" sz="1800" dirty="0">
                <a:solidFill>
                  <a:schemeClr val="bg2"/>
                </a:solidFill>
              </a:rPr>
              <a:t>, rather than economic variables alone.</a:t>
            </a:r>
          </a:p>
        </p:txBody>
      </p:sp>
    </p:spTree>
    <p:extLst>
      <p:ext uri="{BB962C8B-B14F-4D97-AF65-F5344CB8AC3E}">
        <p14:creationId xmlns:p14="http://schemas.microsoft.com/office/powerpoint/2010/main" val="4148223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E3B72-49D9-1F7F-D19A-568EC0107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327" y="315686"/>
            <a:ext cx="6620968" cy="762000"/>
          </a:xfrm>
        </p:spPr>
        <p:txBody>
          <a:bodyPr/>
          <a:lstStyle/>
          <a:p>
            <a:r>
              <a:rPr lang="en-US" sz="3200" b="1" dirty="0"/>
              <a:t>Hypothesis Testing Summary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63DEAF-AB97-059D-6BF0-E8052F379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327" y="1709057"/>
            <a:ext cx="7689730" cy="4038600"/>
          </a:xfrm>
        </p:spPr>
        <p:txBody>
          <a:bodyPr>
            <a:normAutofit/>
          </a:bodyPr>
          <a:lstStyle/>
          <a:p>
            <a:r>
              <a:rPr lang="en-US" b="1" dirty="0"/>
              <a:t>Hypothesis 1:</a:t>
            </a:r>
            <a:r>
              <a:rPr lang="en-US" dirty="0"/>
              <a:t> Discounts have no impact on sales → </a:t>
            </a:r>
            <a:r>
              <a:rPr lang="en-US" b="1" dirty="0"/>
              <a:t>Rejected </a:t>
            </a:r>
            <a:endParaRPr lang="en-US" dirty="0"/>
          </a:p>
          <a:p>
            <a:r>
              <a:rPr lang="en-US" dirty="0"/>
              <a:t>Result: Discounts </a:t>
            </a:r>
            <a:r>
              <a:rPr lang="en-US" b="1" dirty="0"/>
              <a:t>DO impact revenue response significantly </a:t>
            </a:r>
          </a:p>
          <a:p>
            <a:endParaRPr lang="en-US" dirty="0"/>
          </a:p>
          <a:p>
            <a:r>
              <a:rPr lang="en-US" b="1" dirty="0"/>
              <a:t>Hypothesis 2:</a:t>
            </a:r>
            <a:r>
              <a:rPr lang="en-US" dirty="0"/>
              <a:t> Mean revenue is equal across regions → </a:t>
            </a:r>
            <a:r>
              <a:rPr lang="en-US" b="1" dirty="0"/>
              <a:t>Rejected </a:t>
            </a:r>
            <a:endParaRPr lang="en-US" dirty="0"/>
          </a:p>
          <a:p>
            <a:r>
              <a:rPr lang="en-US" dirty="0"/>
              <a:t>Revenue </a:t>
            </a:r>
            <a:r>
              <a:rPr lang="en-US" b="1" dirty="0"/>
              <a:t>differs across store locations and formats </a:t>
            </a:r>
          </a:p>
          <a:p>
            <a:endParaRPr lang="en-US" dirty="0"/>
          </a:p>
          <a:p>
            <a:r>
              <a:rPr lang="en-US" dirty="0"/>
              <a:t>Additional Findings:</a:t>
            </a:r>
          </a:p>
          <a:p>
            <a:r>
              <a:rPr lang="en-US" b="1" dirty="0"/>
              <a:t>Positive correlation</a:t>
            </a:r>
            <a:r>
              <a:rPr lang="en-US" dirty="0"/>
              <a:t> confirmed between </a:t>
            </a:r>
            <a:r>
              <a:rPr lang="en-US" b="1" dirty="0"/>
              <a:t>discount and revenue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1068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61296-E976-DAAD-D064-3E322E088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066" y="163286"/>
            <a:ext cx="7195458" cy="1251857"/>
          </a:xfrm>
        </p:spPr>
        <p:txBody>
          <a:bodyPr/>
          <a:lstStyle/>
          <a:p>
            <a:r>
              <a:rPr lang="en-US" sz="3600" b="1" dirty="0"/>
              <a:t>Predictive Modeling – Linear Regression</a:t>
            </a:r>
            <a:br>
              <a:rPr lang="en-US" b="1" dirty="0"/>
            </a:b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3BEE9D-22D2-4E6F-219D-C133DF14B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5813" y="1665514"/>
            <a:ext cx="6620968" cy="1251857"/>
          </a:xfrm>
        </p:spPr>
        <p:txBody>
          <a:bodyPr/>
          <a:lstStyle/>
          <a:p>
            <a:r>
              <a:rPr lang="en-US" b="1" dirty="0"/>
              <a:t>Model Purpose:</a:t>
            </a:r>
            <a:r>
              <a:rPr lang="en-US" dirty="0"/>
              <a:t> Predict Revenue based on Discount, Holidays &amp; Economic Features</a:t>
            </a:r>
            <a:br>
              <a:rPr lang="en-US" dirty="0"/>
            </a:br>
            <a:r>
              <a:rPr lang="en-US" dirty="0"/>
              <a:t>Performance metrics from model evaluation:</a:t>
            </a:r>
          </a:p>
          <a:p>
            <a:endParaRPr lang="en-IN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B10109C-0922-A8D4-6F46-77FEB51069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298894"/>
              </p:ext>
            </p:extLst>
          </p:nvPr>
        </p:nvGraphicFramePr>
        <p:xfrm>
          <a:off x="859971" y="2757322"/>
          <a:ext cx="7195458" cy="30850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7729">
                  <a:extLst>
                    <a:ext uri="{9D8B030D-6E8A-4147-A177-3AD203B41FA5}">
                      <a16:colId xmlns:a16="http://schemas.microsoft.com/office/drawing/2014/main" val="2100454925"/>
                    </a:ext>
                  </a:extLst>
                </a:gridCol>
                <a:gridCol w="3597729">
                  <a:extLst>
                    <a:ext uri="{9D8B030D-6E8A-4147-A177-3AD203B41FA5}">
                      <a16:colId xmlns:a16="http://schemas.microsoft.com/office/drawing/2014/main" val="1774507878"/>
                    </a:ext>
                  </a:extLst>
                </a:gridCol>
              </a:tblGrid>
              <a:tr h="350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Result Summary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07513459"/>
                  </a:ext>
                </a:extLst>
              </a:tr>
              <a:tr h="613178">
                <a:tc>
                  <a:txBody>
                    <a:bodyPr/>
                    <a:lstStyle/>
                    <a:p>
                      <a:r>
                        <a:rPr lang="en-IN" dirty="0"/>
                        <a:t>R²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 reliability (explains majority variance)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710570"/>
                  </a:ext>
                </a:extLst>
              </a:tr>
              <a:tr h="613178">
                <a:tc>
                  <a:txBody>
                    <a:bodyPr/>
                    <a:lstStyle/>
                    <a:p>
                      <a:r>
                        <a:rPr lang="en-IN" dirty="0"/>
                        <a:t>MAE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Moderate average prediction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3578685"/>
                  </a:ext>
                </a:extLst>
              </a:tr>
              <a:tr h="875969">
                <a:tc>
                  <a:txBody>
                    <a:bodyPr/>
                    <a:lstStyle/>
                    <a:p>
                      <a:r>
                        <a:rPr lang="en-IN" dirty="0"/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Moderate error but acceptable for business planning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849419"/>
                  </a:ext>
                </a:extLst>
              </a:tr>
              <a:tr h="524749">
                <a:tc>
                  <a:txBody>
                    <a:bodyPr/>
                    <a:lstStyle/>
                    <a:p>
                      <a:r>
                        <a:rPr lang="en-IN" dirty="0"/>
                        <a:t>Top drivers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Fuel Price, Discounts, Holidays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167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2786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710" y="273210"/>
            <a:ext cx="7055380" cy="864453"/>
          </a:xfrm>
        </p:spPr>
        <p:txBody>
          <a:bodyPr/>
          <a:lstStyle/>
          <a:p>
            <a:r>
              <a:rPr lang="en-US" sz="3200" b="1" dirty="0">
                <a:solidFill>
                  <a:schemeClr val="tx1"/>
                </a:solidFill>
              </a:rPr>
              <a:t>Actual scores from notebook run</a:t>
            </a:r>
            <a:br>
              <a:rPr lang="en-IN" dirty="0">
                <a:solidFill>
                  <a:srgbClr val="FF0000"/>
                </a:solidFill>
              </a:rPr>
            </a:b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B1EEE3-45E1-D62D-DE50-25F254B5D3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4617700"/>
              </p:ext>
            </p:extLst>
          </p:nvPr>
        </p:nvGraphicFramePr>
        <p:xfrm>
          <a:off x="827701" y="1508641"/>
          <a:ext cx="5725500" cy="15175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75E0B95-A8D4-8355-6DF1-D3571AA3B580}"/>
              </a:ext>
            </a:extLst>
          </p:cNvPr>
          <p:cNvSpPr txBox="1"/>
          <p:nvPr/>
        </p:nvSpPr>
        <p:spPr>
          <a:xfrm>
            <a:off x="655863" y="3124200"/>
            <a:ext cx="634365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US" b="1" dirty="0"/>
              <a:t>Conclusion:</a:t>
            </a:r>
            <a:endParaRPr lang="en-US" dirty="0"/>
          </a:p>
          <a:p>
            <a:pPr algn="just">
              <a:buNone/>
            </a:pPr>
            <a:endParaRPr lang="en-US" dirty="0"/>
          </a:p>
          <a:p>
            <a:pPr algn="just">
              <a:buNone/>
            </a:pPr>
            <a:r>
              <a:rPr lang="en-US" dirty="0"/>
              <a:t>The regression model is </a:t>
            </a:r>
            <a:r>
              <a:rPr lang="en-US" b="1" dirty="0"/>
              <a:t>not reliable for predicting revenue</a:t>
            </a:r>
            <a:r>
              <a:rPr lang="en-US" dirty="0"/>
              <a:t> because economic and promotional features used earlier do not show strong influence on weekly revenue in this dataset.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D0DF1-D1AF-D90B-AF11-CA5D1270A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972" y="167088"/>
            <a:ext cx="6620968" cy="609600"/>
          </a:xfrm>
        </p:spPr>
        <p:txBody>
          <a:bodyPr/>
          <a:lstStyle/>
          <a:p>
            <a:r>
              <a:rPr lang="en-US" sz="3600" b="1" dirty="0"/>
              <a:t>Forecast – Next 4 Weeks</a:t>
            </a:r>
            <a:br>
              <a:rPr lang="en-US" sz="3600" b="1" dirty="0"/>
            </a:br>
            <a:endParaRPr lang="en-IN" sz="3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34C5F-23A0-9E7F-02BE-0B82B06B8AE3}"/>
              </a:ext>
            </a:extLst>
          </p:cNvPr>
          <p:cNvSpPr txBox="1"/>
          <p:nvPr/>
        </p:nvSpPr>
        <p:spPr>
          <a:xfrm>
            <a:off x="136006" y="4354787"/>
            <a:ext cx="876850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Forecast is built only on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historical sales trend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not external features.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It captures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seasonal spikes and repeating patterns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which are strong in weekly Walmart    sales data.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Forecast gives a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directional trend estimate for 4 weeks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helpful for short-term demand planning.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Arial" panose="020B0604020202020204" pitchFamily="34" charset="0"/>
              </a:rPr>
              <a:t>Key Benefit: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3">
                  <a:lumMod val="60000"/>
                  <a:lumOff val="4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Unlike regression, ARIMA focuses on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time-based momentum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so it adapts better to weekly seasonality and holiday peaks.</a:t>
            </a:r>
          </a:p>
        </p:txBody>
      </p:sp>
      <p:pic>
        <p:nvPicPr>
          <p:cNvPr id="10244" name="Picture 4">
            <a:extLst>
              <a:ext uri="{FF2B5EF4-FFF2-40B4-BE49-F238E27FC236}">
                <a16:creationId xmlns:a16="http://schemas.microsoft.com/office/drawing/2014/main" id="{E9797EBD-E4C2-D965-0DBA-786E2BF12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737" y="1060122"/>
            <a:ext cx="6709519" cy="3021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6772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A3C342-1D03-412F-8DD3-BF519E8E0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D7382A-BC46-4D21-B52F-5ED6A90855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370" y="241279"/>
            <a:ext cx="4553636" cy="1141207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pPr defTabSz="457200">
              <a:lnSpc>
                <a:spcPct val="90000"/>
              </a:lnSpc>
            </a:pPr>
            <a:r>
              <a:rPr lang="en-US" sz="3600" b="1" dirty="0">
                <a:solidFill>
                  <a:srgbClr val="EBEBEB"/>
                </a:solidFill>
              </a:rPr>
              <a:t>Business Recommendations</a:t>
            </a:r>
            <a:br>
              <a:rPr lang="en-US" sz="3600" b="1" dirty="0">
                <a:solidFill>
                  <a:srgbClr val="EBEBEB"/>
                </a:solidFill>
              </a:rPr>
            </a:br>
            <a:endParaRPr lang="en-US" sz="3600" b="1" dirty="0">
              <a:solidFill>
                <a:srgbClr val="EBEBEB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0319C-1FBE-FD5E-A98A-617C64453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6697" y="2182363"/>
            <a:ext cx="4641142" cy="3785419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85750" defTabSz="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To optimize sales &amp; inventory:</a:t>
            </a:r>
          </a:p>
          <a:p>
            <a:pPr marL="285750" indent="-285750" defTabSz="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Increase inventory 1–2 weeks before holiday spikes</a:t>
            </a:r>
          </a:p>
          <a:p>
            <a:pPr marL="285750" indent="-285750" defTabSz="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Deploy targeted markdown promotions during low-season months</a:t>
            </a:r>
          </a:p>
          <a:p>
            <a:pPr marL="285750" indent="-285750" defTabSz="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Allocate stock using: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-Store revenue contribution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-Units movement trends</a:t>
            </a:r>
            <a:br>
              <a:rPr lang="en-US" dirty="0">
                <a:solidFill>
                  <a:srgbClr val="FFFFFF"/>
                </a:solidFill>
              </a:rPr>
            </a:br>
            <a:r>
              <a:rPr lang="en-US" dirty="0">
                <a:solidFill>
                  <a:srgbClr val="FFFFFF"/>
                </a:solidFill>
              </a:rPr>
              <a:t>-Forecasted demand</a:t>
            </a:r>
          </a:p>
          <a:p>
            <a:pPr marL="285750" indent="-285750" defTabSz="4572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FFFF"/>
                </a:solidFill>
              </a:rPr>
              <a:t>Align manpower and logistics planning with predicted demand</a:t>
            </a:r>
          </a:p>
          <a:p>
            <a:pPr defTabSz="457200">
              <a:lnSpc>
                <a:spcPct val="90000"/>
              </a:lnSpc>
              <a:buFont typeface="Wingdings 3" charset="2"/>
              <a:buChar char=""/>
            </a:pP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3" name="Freeform 31">
            <a:extLst>
              <a:ext uri="{FF2B5EF4-FFF2-40B4-BE49-F238E27FC236}">
                <a16:creationId xmlns:a16="http://schemas.microsoft.com/office/drawing/2014/main" id="{81CC9B02-E087-4350-AEBD-2C3CF001AF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61980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esk with productivity items">
            <a:extLst>
              <a:ext uri="{FF2B5EF4-FFF2-40B4-BE49-F238E27FC236}">
                <a16:creationId xmlns:a16="http://schemas.microsoft.com/office/drawing/2014/main" id="{A4711CC3-D3B6-5F36-DB1A-34D85E101DC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9509" r="24259" b="-2"/>
          <a:stretch>
            <a:fillRect/>
          </a:stretch>
        </p:blipFill>
        <p:spPr>
          <a:xfrm>
            <a:off x="5421881" y="1"/>
            <a:ext cx="3722434" cy="6858001"/>
          </a:xfrm>
          <a:custGeom>
            <a:avLst/>
            <a:gdLst/>
            <a:ahLst/>
            <a:cxnLst/>
            <a:rect l="l" t="t" r="r" b="b"/>
            <a:pathLst>
              <a:path w="4963245" h="6858001">
                <a:moveTo>
                  <a:pt x="1177" y="0"/>
                </a:moveTo>
                <a:lnTo>
                  <a:pt x="1344715" y="0"/>
                </a:lnTo>
                <a:lnTo>
                  <a:pt x="1344715" y="1"/>
                </a:lnTo>
                <a:lnTo>
                  <a:pt x="4963245" y="1"/>
                </a:lnTo>
                <a:lnTo>
                  <a:pt x="4963244" y="6858001"/>
                </a:lnTo>
                <a:lnTo>
                  <a:pt x="900697" y="6858001"/>
                </a:lnTo>
                <a:lnTo>
                  <a:pt x="900697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9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9" y="5934227"/>
                </a:lnTo>
                <a:lnTo>
                  <a:pt x="132454" y="5753862"/>
                </a:lnTo>
                <a:lnTo>
                  <a:pt x="150776" y="5561838"/>
                </a:lnTo>
                <a:lnTo>
                  <a:pt x="167753" y="5354726"/>
                </a:lnTo>
                <a:lnTo>
                  <a:pt x="184058" y="5138013"/>
                </a:lnTo>
                <a:lnTo>
                  <a:pt x="198849" y="4908956"/>
                </a:lnTo>
                <a:lnTo>
                  <a:pt x="212969" y="4670298"/>
                </a:lnTo>
                <a:lnTo>
                  <a:pt x="226248" y="4421352"/>
                </a:lnTo>
                <a:lnTo>
                  <a:pt x="230955" y="4293793"/>
                </a:lnTo>
                <a:lnTo>
                  <a:pt x="236165" y="4163492"/>
                </a:lnTo>
                <a:lnTo>
                  <a:pt x="241040" y="4031133"/>
                </a:lnTo>
                <a:lnTo>
                  <a:pt x="244234" y="3898087"/>
                </a:lnTo>
                <a:lnTo>
                  <a:pt x="247091" y="3762299"/>
                </a:lnTo>
                <a:lnTo>
                  <a:pt x="250117" y="3625139"/>
                </a:lnTo>
                <a:lnTo>
                  <a:pt x="252134" y="3485236"/>
                </a:lnTo>
                <a:lnTo>
                  <a:pt x="252134" y="3343961"/>
                </a:lnTo>
                <a:lnTo>
                  <a:pt x="253142" y="3201315"/>
                </a:lnTo>
                <a:lnTo>
                  <a:pt x="252134" y="3057297"/>
                </a:lnTo>
                <a:lnTo>
                  <a:pt x="250117" y="2911221"/>
                </a:lnTo>
                <a:lnTo>
                  <a:pt x="248268" y="2765146"/>
                </a:lnTo>
                <a:lnTo>
                  <a:pt x="244234" y="2617013"/>
                </a:lnTo>
                <a:lnTo>
                  <a:pt x="240032" y="2467509"/>
                </a:lnTo>
                <a:lnTo>
                  <a:pt x="235157" y="2318004"/>
                </a:lnTo>
                <a:lnTo>
                  <a:pt x="228266" y="2167128"/>
                </a:lnTo>
                <a:lnTo>
                  <a:pt x="220029" y="2014881"/>
                </a:lnTo>
                <a:lnTo>
                  <a:pt x="212129" y="1861947"/>
                </a:lnTo>
                <a:lnTo>
                  <a:pt x="202044" y="1709014"/>
                </a:lnTo>
                <a:lnTo>
                  <a:pt x="189941" y="1554023"/>
                </a:lnTo>
                <a:lnTo>
                  <a:pt x="177839" y="1401090"/>
                </a:lnTo>
                <a:lnTo>
                  <a:pt x="163887" y="1245413"/>
                </a:lnTo>
                <a:lnTo>
                  <a:pt x="148591" y="1089051"/>
                </a:lnTo>
                <a:lnTo>
                  <a:pt x="132455" y="934746"/>
                </a:lnTo>
                <a:lnTo>
                  <a:pt x="113629" y="778383"/>
                </a:lnTo>
                <a:lnTo>
                  <a:pt x="93458" y="622707"/>
                </a:lnTo>
                <a:lnTo>
                  <a:pt x="73455" y="466344"/>
                </a:lnTo>
                <a:lnTo>
                  <a:pt x="50091" y="310668"/>
                </a:lnTo>
                <a:lnTo>
                  <a:pt x="26222" y="15567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769879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E6F9A3-300E-47F5-B41C-C8C5E758DE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F77F67-BE3C-0CB1-A445-4904E33B9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696" y="1063417"/>
            <a:ext cx="2629122" cy="467539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/>
            <a:r>
              <a:rPr lang="en-US" sz="3300">
                <a:solidFill>
                  <a:srgbClr val="F2F2F2"/>
                </a:solidFill>
              </a:rPr>
              <a:t>Conclusion</a:t>
            </a:r>
            <a:br>
              <a:rPr lang="en-US" sz="3300">
                <a:solidFill>
                  <a:srgbClr val="F2F2F2"/>
                </a:solidFill>
              </a:rPr>
            </a:br>
            <a:endParaRPr lang="en-US" sz="3300">
              <a:solidFill>
                <a:srgbClr val="F2F2F2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B4701B-39FE-43B8-86AA-D6B8789C2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9292" y="0"/>
            <a:ext cx="566470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Rounded Rectangle 9">
            <a:extLst>
              <a:ext uri="{FF2B5EF4-FFF2-40B4-BE49-F238E27FC236}">
                <a16:creationId xmlns:a16="http://schemas.microsoft.com/office/drawing/2014/main" id="{E9A7EF13-49FA-4355-971A-34B065F35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42766" y="484632"/>
            <a:ext cx="4938073" cy="5739187"/>
          </a:xfrm>
          <a:prstGeom prst="roundRect">
            <a:avLst>
              <a:gd name="adj" fmla="val 0"/>
            </a:avLst>
          </a:prstGeom>
          <a:ln w="12700" cap="sq">
            <a:solidFill>
              <a:schemeClr val="bg1">
                <a:lumMod val="75000"/>
              </a:schemeClr>
            </a:solidFill>
            <a:miter lim="800000"/>
          </a:ln>
          <a:effectLst>
            <a:outerShdw blurRad="63500" dist="25400" dir="5400000" algn="tl" rotWithShape="0">
              <a:srgbClr val="000000">
                <a:alpha val="3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2CF3C3E-0F7B-4F0C-8EBD-BDD38E9C66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31836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A61BF3F7-8877-F996-8D05-AFB38396FB8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4824548"/>
              </p:ext>
            </p:extLst>
          </p:nvPr>
        </p:nvGraphicFramePr>
        <p:xfrm>
          <a:off x="4206478" y="965200"/>
          <a:ext cx="4211240" cy="47736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25858784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3027759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141809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6759" y="1676400"/>
            <a:ext cx="211455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59" y="0"/>
            <a:ext cx="1202540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6096000"/>
            <a:ext cx="745301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115F22-7B84-5310-51F6-A3C6A5B8E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891" y="1447800"/>
            <a:ext cx="2331469" cy="45720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457200"/>
            <a:r>
              <a:rPr lang="en-US" sz="2400">
                <a:solidFill>
                  <a:srgbClr val="F2F2F2"/>
                </a:solidFill>
              </a:rPr>
              <a:t>Skills Demonstrated</a:t>
            </a:r>
            <a:br>
              <a:rPr lang="en-US" sz="2400">
                <a:solidFill>
                  <a:srgbClr val="F2F2F2"/>
                </a:solidFill>
              </a:rPr>
            </a:br>
            <a:endParaRPr lang="en-US" sz="2400">
              <a:solidFill>
                <a:srgbClr val="F2F2F2"/>
              </a:solidFill>
            </a:endParaRP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0982" y="0"/>
            <a:ext cx="6023018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961082" y="-1"/>
            <a:ext cx="419604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28359" y="0"/>
            <a:ext cx="51435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EAF305E3-27A6-01B7-80DE-FA3567C0B1A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6031091"/>
              </p:ext>
            </p:extLst>
          </p:nvPr>
        </p:nvGraphicFramePr>
        <p:xfrm>
          <a:off x="3786187" y="1447800"/>
          <a:ext cx="4872038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6" r:lo="rId7" r:qs="rId8" r:cs="rId9"/>
          </a:graphicData>
        </a:graphic>
      </p:graphicFrame>
    </p:spTree>
    <p:extLst>
      <p:ext uri="{BB962C8B-B14F-4D97-AF65-F5344CB8AC3E}">
        <p14:creationId xmlns:p14="http://schemas.microsoft.com/office/powerpoint/2010/main" val="9894521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406</TotalTime>
  <Words>842</Words>
  <Application>Microsoft Office PowerPoint</Application>
  <PresentationFormat>On-screen Show (4:3)</PresentationFormat>
  <Paragraphs>139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Ion</vt:lpstr>
      <vt:lpstr>Retail Sales Analysis &amp; Forecasting Walmart Retail Store Dataset </vt:lpstr>
      <vt:lpstr>EXECUTIVE OVERVIEW 🎯 Business Objective </vt:lpstr>
      <vt:lpstr>Dataset Description </vt:lpstr>
      <vt:lpstr>Data Preparation </vt:lpstr>
      <vt:lpstr>EDA: Top 10 Stores by Revenue </vt:lpstr>
      <vt:lpstr>EDA: Revenue Trend Over Time </vt:lpstr>
      <vt:lpstr>Monthly Revenue TREND  </vt:lpstr>
      <vt:lpstr>Monthly Unit Sold Trend</vt:lpstr>
      <vt:lpstr>Quarterly Sales Distribution   </vt:lpstr>
      <vt:lpstr>Effect of Holiday on Sales</vt:lpstr>
      <vt:lpstr>Correlation Heatmap Findings </vt:lpstr>
      <vt:lpstr>Correlation Heatmap Findings </vt:lpstr>
      <vt:lpstr>Hypothesis Testing Summary </vt:lpstr>
      <vt:lpstr>Predictive Modeling – Linear Regression </vt:lpstr>
      <vt:lpstr>Actual scores from notebook run </vt:lpstr>
      <vt:lpstr>Forecast – Next 4 Weeks </vt:lpstr>
      <vt:lpstr>Business Recommendations </vt:lpstr>
      <vt:lpstr>Conclusion </vt:lpstr>
      <vt:lpstr>Skills Demonstrated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Administrator</dc:creator>
  <cp:keywords/>
  <dc:description>generated using python-pptx</dc:description>
  <cp:lastModifiedBy>Sudhanshu Tiwari</cp:lastModifiedBy>
  <cp:revision>2</cp:revision>
  <dcterms:created xsi:type="dcterms:W3CDTF">2013-01-27T09:14:16Z</dcterms:created>
  <dcterms:modified xsi:type="dcterms:W3CDTF">2025-11-30T14:45:19Z</dcterms:modified>
  <cp:category/>
</cp:coreProperties>
</file>